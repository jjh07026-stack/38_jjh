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7" r:id="rId4"/>
    <p:sldId id="258" r:id="rId5"/>
    <p:sldId id="259" r:id="rId6"/>
    <p:sldId id="266" r:id="rId7"/>
    <p:sldId id="265" r:id="rId8"/>
    <p:sldId id="267" r:id="rId9"/>
    <p:sldId id="268" r:id="rId10"/>
    <p:sldId id="269" r:id="rId11"/>
    <p:sldId id="270" r:id="rId12"/>
    <p:sldId id="271" r:id="rId13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76010" autoAdjust="0"/>
  </p:normalViewPr>
  <p:slideViewPr>
    <p:cSldViewPr snapToGrid="0" snapToObjects="1">
      <p:cViewPr varScale="1">
        <p:scale>
          <a:sx n="100" d="100"/>
          <a:sy n="100" d="100"/>
        </p:scale>
        <p:origin x="420" y="60"/>
      </p:cViewPr>
      <p:guideLst>
        <p:guide orient="horz" pos="3109"/>
        <p:guide pos="552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38" d="100"/>
          <a:sy n="38" d="100"/>
        </p:scale>
        <p:origin x="3492" y="72"/>
      </p:cViewPr>
    </p:cSldViewPr>
  </p:notes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4279529" cy="87780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4022" y="0"/>
            <a:ext cx="4279529" cy="87780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2026-09-18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6675308"/>
            <a:ext cx="4279529" cy="877808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4022" y="16675308"/>
            <a:ext cx="4279529" cy="877808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913842" y="1316712"/>
            <a:ext cx="11703522" cy="6583561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583" y="8339177"/>
            <a:ext cx="7900670" cy="7900273"/>
          </a:xfr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913842" y="1316712"/>
            <a:ext cx="11703522" cy="6583561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583" y="8339177"/>
            <a:ext cx="7900670" cy="7900273"/>
          </a:xfr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913842" y="1316712"/>
            <a:ext cx="11703522" cy="6583561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583" y="8339177"/>
            <a:ext cx="7900670" cy="7900273"/>
          </a:xfr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913842" y="1316712"/>
            <a:ext cx="11703522" cy="6583561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583" y="8339177"/>
            <a:ext cx="7900670" cy="7900273"/>
          </a:xfr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913842" y="1316712"/>
            <a:ext cx="11703522" cy="6583561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583" y="8339177"/>
            <a:ext cx="7900670" cy="7900273"/>
          </a:xfr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913842" y="1316712"/>
            <a:ext cx="11703522" cy="6583561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583" y="8339177"/>
            <a:ext cx="7900670" cy="7900273"/>
          </a:xfr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913842" y="1316712"/>
            <a:ext cx="11703522" cy="6583561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583" y="8339177"/>
            <a:ext cx="7900670" cy="7900273"/>
          </a:xfr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913842" y="1316712"/>
            <a:ext cx="11703522" cy="6583561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583" y="8339177"/>
            <a:ext cx="7900670" cy="7900273"/>
          </a:xfr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08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-1" y="-1"/>
            <a:ext cx="17556163" cy="162877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</a:rPr>
              <a:t>AI </a:t>
            </a:r>
            <a:r>
              <a:rPr lang="ko-KR" altLang="en-US" b="1">
                <a:latin typeface="맑은 고딕"/>
              </a:rPr>
              <a:t>시스템반도체 시스템 반도체 설계</a:t>
            </a:r>
            <a:r>
              <a:rPr lang="en-US" altLang="ko-KR" b="1">
                <a:latin typeface="맑은 고딕"/>
              </a:rPr>
              <a:t>(2</a:t>
            </a:r>
            <a:r>
              <a:rPr lang="ko-KR" altLang="en-US" b="1">
                <a:latin typeface="맑은 고딕"/>
              </a:rPr>
              <a:t>기</a:t>
            </a:r>
            <a:r>
              <a:rPr lang="en-US" altLang="ko-KR" b="1">
                <a:latin typeface="맑은 고딕"/>
              </a:rPr>
              <a:t>)</a:t>
            </a:r>
            <a:endParaRPr lang="en-US" altLang="ko-KR" b="1"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02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400" b="1">
                <a:latin typeface="맑은 고딕"/>
              </a:rPr>
              <a:t>가위바위보 미니 프로젝트</a:t>
            </a:r>
            <a:endParaRPr lang="ko-KR" altLang="en-US" sz="5400" b="1"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09163" y="7541615"/>
            <a:ext cx="1584328" cy="514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800" b="1">
                <a:latin typeface="맑은 고딕"/>
              </a:rPr>
              <a:t>정준혁</a:t>
            </a:r>
            <a:endParaRPr lang="ko-KR" altLang="en-US" sz="2800" b="1"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600" b="1">
                <a:latin typeface="맑은 고딕"/>
              </a:rPr>
              <a:t>프로젝트 결과보고서</a:t>
            </a:r>
            <a:endParaRPr lang="ko-KR" altLang="en-US" sz="3600" b="1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06099" y="2154140"/>
            <a:ext cx="11160121" cy="612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0" indent="-914400">
              <a:lnSpc>
                <a:spcPct val="150000"/>
              </a:lnSpc>
              <a:buAutoNum type="arabicPeriod"/>
              <a:defRPr/>
            </a:pPr>
            <a:r>
              <a:rPr lang="ko-KR" altLang="en-US" sz="4400" b="1">
                <a:latin typeface="맑은 고딕"/>
              </a:rPr>
              <a:t>주제 및 결과 요약</a:t>
            </a:r>
            <a:endParaRPr lang="ko-KR" altLang="en-US" sz="4400" b="1">
              <a:latin typeface="맑은 고딕"/>
            </a:endParaRPr>
          </a:p>
          <a:p>
            <a:pPr marL="914400" lvl="0" indent="-914400">
              <a:lnSpc>
                <a:spcPct val="150000"/>
              </a:lnSpc>
              <a:buAutoNum type="arabicPeriod"/>
              <a:defRPr/>
            </a:pPr>
            <a:r>
              <a:rPr lang="ko-KR" altLang="en-US" sz="4400" b="1">
                <a:latin typeface="맑은 고딕"/>
              </a:rPr>
              <a:t>개발 목표 및 개발 결과</a:t>
            </a:r>
            <a:endParaRPr lang="ko-KR" altLang="en-US" sz="4400" b="1">
              <a:latin typeface="맑은 고딕"/>
            </a:endParaRPr>
          </a:p>
          <a:p>
            <a:pPr marL="914400" lvl="0" indent="-914400">
              <a:lnSpc>
                <a:spcPct val="150000"/>
              </a:lnSpc>
              <a:buAutoNum type="arabicPeriod"/>
              <a:defRPr/>
            </a:pPr>
            <a:r>
              <a:rPr lang="ko-KR" altLang="en-US" sz="4400" b="1">
                <a:latin typeface="맑은 고딕"/>
              </a:rPr>
              <a:t>핵심 기술</a:t>
            </a:r>
            <a:endParaRPr lang="ko-KR" altLang="en-US" sz="4400" b="1">
              <a:latin typeface="맑은 고딕"/>
            </a:endParaRPr>
          </a:p>
          <a:p>
            <a:pPr marL="914400" lvl="0" indent="-914400">
              <a:lnSpc>
                <a:spcPct val="150000"/>
              </a:lnSpc>
              <a:buAutoNum type="arabicPeriod"/>
              <a:defRPr/>
            </a:pPr>
            <a:r>
              <a:rPr lang="ko-KR" altLang="en-US" sz="4400" b="1">
                <a:latin typeface="맑은 고딕"/>
              </a:rPr>
              <a:t>결과 분석 및 기대 효과</a:t>
            </a:r>
            <a:endParaRPr lang="ko-KR" altLang="en-US" sz="4400" b="1">
              <a:latin typeface="맑은 고딕"/>
            </a:endParaRPr>
          </a:p>
          <a:p>
            <a:pPr marL="914400" lvl="0" indent="-914400">
              <a:lnSpc>
                <a:spcPct val="150000"/>
              </a:lnSpc>
              <a:buAutoNum type="arabicPeriod"/>
              <a:defRPr/>
            </a:pPr>
            <a:r>
              <a:rPr lang="ko-KR" altLang="en-US" sz="4400" b="1">
                <a:latin typeface="맑은 고딕"/>
              </a:rPr>
              <a:t>향후 연구 과제</a:t>
            </a:r>
            <a:endParaRPr lang="ko-KR" altLang="en-US" sz="4400" b="1">
              <a:latin typeface="맑은 고딕"/>
            </a:endParaRPr>
          </a:p>
          <a:p>
            <a:pPr marL="914400" lvl="0" indent="-914400">
              <a:lnSpc>
                <a:spcPct val="150000"/>
              </a:lnSpc>
              <a:buAutoNum type="arabicPeriod"/>
              <a:defRPr/>
            </a:pPr>
            <a:r>
              <a:rPr lang="ko-KR" altLang="en-US" sz="4400" b="1">
                <a:latin typeface="맑은 고딕"/>
              </a:rPr>
              <a:t>프로젝트 수행 후기</a:t>
            </a:r>
            <a:endParaRPr lang="ko-KR" altLang="en-US" sz="4400" b="1">
              <a:latin typeface="맑은 고딕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66928" y="634786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900" b="1" i="0" u="none" strike="noStrike" kern="1200" cap="none" spc="0" normalizeH="0" baseline="0" mc:Ignorable="hp" hp:hslEmbossed="0">
                <a:solidFill>
                  <a:srgbClr val="102a43"/>
                </a:solidFill>
                <a:latin typeface="맑은 고딕"/>
              </a:rPr>
              <a:t>목차 구성</a:t>
            </a:r>
            <a:endParaRPr xmlns:mc="http://schemas.openxmlformats.org/markup-compatibility/2006" xmlns:hp="http://schemas.haansoft.com/office/presentation/8.0" kumimoji="0" lang="ko-KR" altLang="en-US" sz="2900" b="1" i="0" u="none" strike="noStrike" kern="1200" cap="none" spc="0" normalizeH="0" baseline="0" mc:Ignorable="hp" hp:hslEmbossed="0">
              <a:solidFill>
                <a:srgbClr val="102a43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6928" y="634786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en-US" sz="2900" b="1">
                <a:solidFill>
                  <a:srgbClr val="102a43"/>
                </a:solidFill>
                <a:latin typeface="맑은 고딕"/>
                <a:ea typeface="맑은 고딕"/>
                <a:cs typeface="맑은 고딕"/>
              </a:rPr>
              <a:t>주제 및 결과 요약</a:t>
            </a:r>
            <a:endParaRPr lang="en-US" sz="2900"/>
          </a:p>
        </p:txBody>
      </p:sp>
      <p:sp>
        <p:nvSpPr>
          <p:cNvPr id="5" name="가로 글상자 4"/>
          <p:cNvSpPr txBox="1"/>
          <p:nvPr/>
        </p:nvSpPr>
        <p:spPr>
          <a:xfrm>
            <a:off x="566928" y="1133254"/>
            <a:ext cx="8778082" cy="25034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>
              <a:buNone/>
              <a:defRPr/>
            </a:pPr>
            <a:r>
              <a:rPr lang="en-US" sz="1050">
                <a:solidFill>
                  <a:schemeClr val="lt1"/>
                </a:solidFill>
                <a:latin typeface="맑은 고딕"/>
                <a:ea typeface="맑은 고딕"/>
                <a:cs typeface="맑은 고딕"/>
              </a:rPr>
              <a:t>한 장에서 목적, 입력, 처리 결과를 함께 확인하는 구조</a:t>
            </a: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6" name="Text 0"/>
          <p:cNvSpPr/>
          <p:nvPr/>
        </p:nvSpPr>
        <p:spPr>
          <a:xfrm>
            <a:off x="566928" y="350996"/>
            <a:ext cx="411480" cy="868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66928" y="2564892"/>
            <a:ext cx="1629537" cy="411480"/>
          </a:xfrm>
          <a:prstGeom prst="rect">
            <a:avLst/>
          </a:prstGeom>
          <a:solidFill>
            <a:srgbClr val="1967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99052" y="2674620"/>
            <a:ext cx="1365287" cy="274319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개요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566928" y="3258248"/>
            <a:ext cx="7697787" cy="211543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285600" lvl="0" indent="-285600" algn="l">
              <a:buClr>
                <a:srgbClr val="1d2a36"/>
              </a:buClr>
              <a:buFont typeface="Arial"/>
              <a:buChar char="•"/>
              <a:defRPr/>
            </a:pPr>
            <a:r>
              <a:rPr lang="ko-KR" altLang="en-US" sz="20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웹캠 영상 기반 실시간 </a:t>
            </a:r>
            <a:r>
              <a:rPr lang="en-US" altLang="ko-KR" sz="20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20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인 가위바위보 시스템 구축</a:t>
            </a:r>
            <a:endParaRPr lang="ko-KR" altLang="en-US" sz="2000" b="1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  <a:p>
            <a:pPr marL="285600" lvl="0" indent="-285600" algn="l">
              <a:buClr>
                <a:srgbClr val="1d2a36"/>
              </a:buClr>
              <a:buFont typeface="Arial"/>
              <a:buChar char="•"/>
              <a:defRPr/>
            </a:pPr>
            <a:endParaRPr lang="ko-KR" altLang="en-US" sz="2000" b="1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  <a:p>
            <a:pPr marL="285600" lvl="0" indent="-285600" algn="l">
              <a:buClr>
                <a:srgbClr val="1d2a36"/>
              </a:buClr>
              <a:buFont typeface="Arial"/>
              <a:buChar char="•"/>
              <a:defRPr/>
            </a:pPr>
            <a:r>
              <a:rPr lang="en-US" altLang="ko-KR" sz="15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LiteRT(best.tflite)</a:t>
            </a:r>
            <a:r>
              <a:rPr lang="ko-KR" altLang="en-US" sz="15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모델 추론 기반 가위바위보 분류</a:t>
            </a:r>
            <a:endParaRPr lang="ko-KR" altLang="en-US" sz="1500" b="1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  <a:p>
            <a:pPr marL="285600" lvl="0" indent="-285600" algn="l">
              <a:buClr>
                <a:srgbClr val="1d2a36"/>
              </a:buClr>
              <a:buFont typeface="Arial"/>
              <a:buChar char="•"/>
              <a:defRPr/>
            </a:pPr>
            <a:endParaRPr lang="ko-KR" altLang="en-US" sz="1500" b="1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  <a:p>
            <a:pPr marL="285600" lvl="0" indent="-285600" algn="l">
              <a:buClr>
                <a:srgbClr val="1d2a36"/>
              </a:buClr>
              <a:buFont typeface="Arial"/>
              <a:buChar char="•"/>
              <a:defRPr/>
            </a:pPr>
            <a:r>
              <a:rPr lang="en-US" altLang="ko-KR" sz="15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Bounding Box</a:t>
            </a:r>
            <a:r>
              <a:rPr lang="ko-KR" altLang="en-US" sz="15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 중심 좌표 기반 좌</a:t>
            </a:r>
            <a:r>
              <a:rPr lang="en-US" altLang="ko-KR" sz="15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5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우 플레이어</a:t>
            </a:r>
            <a:r>
              <a:rPr lang="en-US" altLang="ko-KR" sz="15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(P1, P2)</a:t>
            </a:r>
            <a:r>
              <a:rPr lang="ko-KR" altLang="en-US" sz="15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 영역 분리 및 규칙 판정</a:t>
            </a:r>
            <a:endParaRPr lang="ko-KR" altLang="en-US" sz="1500" b="1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76656" y="6279642"/>
            <a:ext cx="10469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500" b="1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인식 클래스 표시 · 2인 분리 · 3초 카운트다운 · 0.5초 다수결 · 승무패 점수판</a:t>
            </a:r>
            <a:endParaRPr lang="en-US" sz="1500"/>
          </a:p>
        </p:txBody>
      </p:sp>
      <p:sp>
        <p:nvSpPr>
          <p:cNvPr id="34" name="Shape 4"/>
          <p:cNvSpPr/>
          <p:nvPr/>
        </p:nvSpPr>
        <p:spPr>
          <a:xfrm>
            <a:off x="8793398" y="2564892"/>
            <a:ext cx="1629537" cy="411480"/>
          </a:xfrm>
          <a:prstGeom prst="rect">
            <a:avLst/>
          </a:prstGeom>
          <a:solidFill>
            <a:srgbClr val="1e7452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Text 5"/>
          <p:cNvSpPr/>
          <p:nvPr/>
        </p:nvSpPr>
        <p:spPr>
          <a:xfrm>
            <a:off x="8998674" y="2674620"/>
            <a:ext cx="1365287" cy="274319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 흐름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0" name="Shape 34"/>
          <p:cNvSpPr/>
          <p:nvPr/>
        </p:nvSpPr>
        <p:spPr>
          <a:xfrm>
            <a:off x="566928" y="8002853"/>
            <a:ext cx="11036808" cy="733806"/>
          </a:xfrm>
          <a:prstGeom prst="rect">
            <a:avLst/>
          </a:prstGeom>
          <a:solidFill>
            <a:srgbClr val="102a43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1" name="Text 35"/>
          <p:cNvSpPr/>
          <p:nvPr/>
        </p:nvSpPr>
        <p:spPr>
          <a:xfrm>
            <a:off x="894969" y="8174895"/>
            <a:ext cx="502920" cy="389721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1600" b="1" i="0" u="none" strike="noStrike" kern="1200" cap="none" spc="0" normalizeH="0" baseline="0" mc:Ignorable="hp" hp:hslEmbossed="0">
                <a:solidFill>
                  <a:srgbClr val="16a6c8"/>
                </a:solidFill>
                <a:latin typeface="맑은 고딕"/>
                <a:ea typeface="맑은 고딕"/>
                <a:cs typeface="맑은 고딕"/>
              </a:rPr>
              <a:t>결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16a6c8"/>
                </a:solidFill>
                <a:latin typeface="맑은 고딕"/>
                <a:ea typeface="맑은 고딕"/>
                <a:cs typeface="맑은 고딕"/>
              </a:rPr>
              <a:t>과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16a6c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2" name="Text 36"/>
          <p:cNvSpPr/>
          <p:nvPr/>
        </p:nvSpPr>
        <p:spPr>
          <a:xfrm>
            <a:off x="1580769" y="8174896"/>
            <a:ext cx="9710928" cy="3897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추론 결과를 게임 규칙과 사용자 화면까지 연결한 실행형 미니 프로젝트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8763794" y="3245389"/>
            <a:ext cx="2088514" cy="365760"/>
          </a:xfrm>
          <a:prstGeom prst="rect">
            <a:avLst/>
          </a:prstGeom>
          <a:solidFill>
            <a:srgbClr val="102a43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8763794" y="3702558"/>
            <a:ext cx="2088514" cy="566928"/>
          </a:xfrm>
          <a:prstGeom prst="roundRect">
            <a:avLst>
              <a:gd name="adj" fmla="val 16667"/>
            </a:avLst>
          </a:prstGeom>
          <a:solidFill>
            <a:srgbClr val="eaf6ff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9" name="Text 5"/>
          <p:cNvSpPr/>
          <p:nvPr/>
        </p:nvSpPr>
        <p:spPr>
          <a:xfrm>
            <a:off x="8773319" y="3355117"/>
            <a:ext cx="2088514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</a:t>
            </a:r>
            <a:endPara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8773319" y="3903726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단계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1" name="Shape 16"/>
          <p:cNvSpPr/>
          <p:nvPr/>
        </p:nvSpPr>
        <p:spPr>
          <a:xfrm>
            <a:off x="8763794" y="4370991"/>
            <a:ext cx="2107564" cy="566928"/>
          </a:xfrm>
          <a:prstGeom prst="roundRect">
            <a:avLst>
              <a:gd name="adj" fmla="val 16667"/>
            </a:avLst>
          </a:prstGeom>
          <a:solidFill>
            <a:srgbClr val="f7fafc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8773319" y="4572159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단계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8763794" y="5044281"/>
            <a:ext cx="2088514" cy="566928"/>
          </a:xfrm>
          <a:prstGeom prst="roundRect">
            <a:avLst>
              <a:gd name="adj" fmla="val 16667"/>
            </a:avLst>
          </a:prstGeom>
          <a:solidFill>
            <a:srgbClr val="eaf6ff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8773319" y="5245449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단계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8763794" y="5712714"/>
            <a:ext cx="2107564" cy="566928"/>
          </a:xfrm>
          <a:prstGeom prst="roundRect">
            <a:avLst>
              <a:gd name="adj" fmla="val 16667"/>
            </a:avLst>
          </a:prstGeom>
          <a:solidFill>
            <a:srgbClr val="f7fafc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8773319" y="5913882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단계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11021219" y="3245389"/>
            <a:ext cx="2088514" cy="365760"/>
          </a:xfrm>
          <a:prstGeom prst="rect">
            <a:avLst/>
          </a:prstGeom>
          <a:solidFill>
            <a:srgbClr val="102a43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1" name="Shape 10"/>
          <p:cNvSpPr/>
          <p:nvPr/>
        </p:nvSpPr>
        <p:spPr>
          <a:xfrm>
            <a:off x="11021219" y="3702558"/>
            <a:ext cx="2088514" cy="566928"/>
          </a:xfrm>
          <a:prstGeom prst="roundRect">
            <a:avLst>
              <a:gd name="adj" fmla="val 16667"/>
            </a:avLst>
          </a:prstGeom>
          <a:solidFill>
            <a:srgbClr val="eaf6ff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2" name="Text 5"/>
          <p:cNvSpPr/>
          <p:nvPr/>
        </p:nvSpPr>
        <p:spPr>
          <a:xfrm>
            <a:off x="11030744" y="3355117"/>
            <a:ext cx="2088514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블록 테스트</a:t>
            </a:r>
            <a:endPara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11030744" y="3903726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영상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4" name="Shape 16"/>
          <p:cNvSpPr/>
          <p:nvPr/>
        </p:nvSpPr>
        <p:spPr>
          <a:xfrm>
            <a:off x="11021219" y="4370991"/>
            <a:ext cx="2107564" cy="566928"/>
          </a:xfrm>
          <a:prstGeom prst="roundRect">
            <a:avLst>
              <a:gd name="adj" fmla="val 16667"/>
            </a:avLst>
          </a:prstGeom>
          <a:solidFill>
            <a:srgbClr val="f7fafc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11030744" y="4572159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추론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11021219" y="5044281"/>
            <a:ext cx="2088514" cy="566928"/>
          </a:xfrm>
          <a:prstGeom prst="roundRect">
            <a:avLst>
              <a:gd name="adj" fmla="val 16667"/>
            </a:avLst>
          </a:prstGeom>
          <a:solidFill>
            <a:srgbClr val="eaf6ff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11030744" y="5245449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판정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11021219" y="5712714"/>
            <a:ext cx="2107564" cy="566928"/>
          </a:xfrm>
          <a:prstGeom prst="roundRect">
            <a:avLst>
              <a:gd name="adj" fmla="val 16667"/>
            </a:avLst>
          </a:prstGeom>
          <a:solidFill>
            <a:srgbClr val="f7fafc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11030744" y="5913882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점수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13240544" y="3235864"/>
            <a:ext cx="2088514" cy="365760"/>
          </a:xfrm>
          <a:prstGeom prst="rect">
            <a:avLst/>
          </a:prstGeom>
          <a:solidFill>
            <a:srgbClr val="102a43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13240544" y="3693033"/>
            <a:ext cx="2088514" cy="566928"/>
          </a:xfrm>
          <a:prstGeom prst="roundRect">
            <a:avLst>
              <a:gd name="adj" fmla="val 16667"/>
            </a:avLst>
          </a:prstGeom>
          <a:solidFill>
            <a:srgbClr val="eaf6ff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13250069" y="3345592"/>
            <a:ext cx="2088514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하단 서브 라벨</a:t>
            </a:r>
            <a:endPara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13250069" y="3894201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Camera Frame</a:t>
            </a:r>
            <a:endPara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4" name="Shape 16"/>
          <p:cNvSpPr/>
          <p:nvPr/>
        </p:nvSpPr>
        <p:spPr>
          <a:xfrm>
            <a:off x="13240544" y="4361466"/>
            <a:ext cx="2107564" cy="566928"/>
          </a:xfrm>
          <a:prstGeom prst="roundRect">
            <a:avLst>
              <a:gd name="adj" fmla="val 16667"/>
            </a:avLst>
          </a:prstGeom>
          <a:solidFill>
            <a:srgbClr val="f7fafc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13250069" y="4562634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LiteRT</a:t>
            </a:r>
            <a:endPara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13240544" y="5034756"/>
            <a:ext cx="2088514" cy="566928"/>
          </a:xfrm>
          <a:prstGeom prst="roundRect">
            <a:avLst>
              <a:gd name="adj" fmla="val 16667"/>
            </a:avLst>
          </a:prstGeom>
          <a:solidFill>
            <a:srgbClr val="eaf6ff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13250069" y="5235924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RPS Winner Engine</a:t>
            </a:r>
            <a:endPara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Shape 16"/>
          <p:cNvSpPr/>
          <p:nvPr/>
        </p:nvSpPr>
        <p:spPr>
          <a:xfrm>
            <a:off x="13240544" y="5703189"/>
            <a:ext cx="2107564" cy="566928"/>
          </a:xfrm>
          <a:prstGeom prst="roundRect">
            <a:avLst>
              <a:gd name="adj" fmla="val 16667"/>
            </a:avLst>
          </a:prstGeom>
          <a:solidFill>
            <a:srgbClr val="f7fafc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13250069" y="5904357"/>
            <a:ext cx="2088514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ea typeface="맑은 고딕"/>
                <a:cs typeface="맑은 고딕"/>
              </a:rPr>
              <a:t>UI &amp; Scoreboard</a:t>
            </a:r>
            <a:endPara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566927" y="5708142"/>
            <a:ext cx="1629537" cy="411480"/>
          </a:xfrm>
          <a:prstGeom prst="rect">
            <a:avLst/>
          </a:prstGeom>
          <a:solidFill>
            <a:srgbClr val="16a6c8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699052" y="5817870"/>
            <a:ext cx="1365287" cy="274319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구현 범위</a:t>
            </a:r>
            <a:endPara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6928" y="634786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ko-KR" altLang="en-US" sz="2900" b="1">
                <a:solidFill>
                  <a:srgbClr val="102a43"/>
                </a:solidFill>
                <a:latin typeface="맑은 고딕"/>
              </a:rPr>
              <a:t>개발 목표 및 개발 결과</a:t>
            </a:r>
            <a:endParaRPr lang="ko-KR" altLang="en-US" sz="2900" b="1">
              <a:solidFill>
                <a:srgbClr val="102a43"/>
              </a:solidFill>
              <a:latin typeface="맑은 고딕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566928" y="1133254"/>
            <a:ext cx="8778082" cy="25034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>
              <a:buNone/>
              <a:defRPr/>
            </a:pPr>
            <a:r>
              <a:rPr lang="ko-KR" altLang="en-US" sz="1050">
                <a:solidFill>
                  <a:schemeClr val="lt1"/>
                </a:solidFill>
                <a:latin typeface="맑은 고딕"/>
              </a:rPr>
              <a:t>개발 목표 별 요구 기능과 설계</a:t>
            </a:r>
            <a:endParaRPr lang="ko-KR" altLang="en-US" sz="1050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6" name="Text 0"/>
          <p:cNvSpPr/>
          <p:nvPr/>
        </p:nvSpPr>
        <p:spPr>
          <a:xfrm>
            <a:off x="566928" y="350996"/>
            <a:ext cx="411480" cy="868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cs typeface="맑은 고딕"/>
              </a:rPr>
              <a:t>0</a:t>
            </a:r>
            <a:r>
              <a:rPr lang="en-US" altLang="ko-KR" sz="1600" b="1">
                <a:solidFill>
                  <a:srgbClr val="ffffff"/>
                </a:solidFill>
                <a:latin typeface="맑은 고딕"/>
                <a:cs typeface="맑은 고딕"/>
              </a:rPr>
              <a:t>2</a:t>
            </a:r>
            <a:endParaRPr lang="en-US" altLang="ko-KR" sz="1600" b="1">
              <a:solidFill>
                <a:srgbClr val="ffffff"/>
              </a:solidFill>
              <a:latin typeface="맑은 고딕"/>
              <a:cs typeface="맑은 고딕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566928" y="2505615"/>
            <a:ext cx="2834640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85" name="Text 5"/>
          <p:cNvSpPr/>
          <p:nvPr/>
        </p:nvSpPr>
        <p:spPr>
          <a:xfrm>
            <a:off x="694944" y="2619915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cs typeface="맑은 고딕"/>
              </a:rPr>
              <a:t>개발 목표</a:t>
            </a:r>
            <a:endParaRPr lang="en-US" sz="1100">
              <a:latin typeface="맑은 고딕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3529584" y="2505615"/>
            <a:ext cx="3017520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87" name="Text 7"/>
          <p:cNvSpPr/>
          <p:nvPr/>
        </p:nvSpPr>
        <p:spPr>
          <a:xfrm>
            <a:off x="3657600" y="2619915"/>
            <a:ext cx="276148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cs typeface="맑은 고딕"/>
              </a:rPr>
              <a:t>요구 기능</a:t>
            </a:r>
            <a:endParaRPr lang="en-US" sz="1100">
              <a:latin typeface="맑은 고딕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6665976" y="2505615"/>
            <a:ext cx="4937760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89" name="Text 9"/>
          <p:cNvSpPr/>
          <p:nvPr/>
        </p:nvSpPr>
        <p:spPr>
          <a:xfrm>
            <a:off x="6793992" y="2619915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cs typeface="맑은 고딕"/>
              </a:rPr>
              <a:t>코드 기반 구현</a:t>
            </a:r>
            <a:endParaRPr lang="en-US" sz="1100">
              <a:latin typeface="맑은 고딕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566928" y="2935383"/>
            <a:ext cx="2834640" cy="566928"/>
          </a:xfrm>
          <a:prstGeom prst="roundRect">
            <a:avLst>
              <a:gd name="adj" fmla="val 16667"/>
            </a:avLst>
          </a:prstGeom>
          <a:solidFill>
            <a:srgbClr val="ea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3529584" y="2935383"/>
            <a:ext cx="3017520" cy="566928"/>
          </a:xfrm>
          <a:prstGeom prst="roundRect">
            <a:avLst>
              <a:gd name="adj" fmla="val 16667"/>
            </a:avLst>
          </a:prstGeom>
          <a:solidFill>
            <a:srgbClr val="ea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6665976" y="2935383"/>
            <a:ext cx="4937760" cy="566928"/>
          </a:xfrm>
          <a:prstGeom prst="roundRect">
            <a:avLst>
              <a:gd name="adj" fmla="val 16667"/>
            </a:avLst>
          </a:prstGeom>
          <a:solidFill>
            <a:srgbClr val="ea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704088" y="3109119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500" b="1">
                <a:solidFill>
                  <a:srgbClr val="1d2a36"/>
                </a:solidFill>
                <a:latin typeface="맑은 고딕"/>
                <a:cs typeface="맑은 고딕"/>
              </a:rPr>
              <a:t>손동작 분류</a:t>
            </a:r>
            <a:endParaRPr lang="en-US" sz="1500">
              <a:latin typeface="맑은 고딕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3666744" y="305425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500">
                <a:solidFill>
                  <a:srgbClr val="1d2a36"/>
                </a:solidFill>
                <a:latin typeface="맑은 고딕"/>
                <a:cs typeface="맑은 고딕"/>
              </a:rPr>
              <a:t>가위·바위·보 3개 클래스 인식</a:t>
            </a:r>
            <a:endParaRPr lang="en-US" sz="1500">
              <a:latin typeface="맑은 고딕"/>
            </a:endParaRPr>
          </a:p>
        </p:txBody>
      </p:sp>
      <p:sp>
        <p:nvSpPr>
          <p:cNvPr id="95" name="Text 15"/>
          <p:cNvSpPr/>
          <p:nvPr/>
        </p:nvSpPr>
        <p:spPr>
          <a:xfrm>
            <a:off x="6803136" y="3054255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500">
                <a:solidFill>
                  <a:srgbClr val="1d2a36"/>
                </a:solidFill>
                <a:latin typeface="맑은 고딕"/>
                <a:cs typeface="맑은 고딕"/>
              </a:rPr>
              <a:t>클래스 ID 0·1·2를 텍스트로 변환</a:t>
            </a:r>
            <a:endParaRPr lang="en-US" sz="1500">
              <a:latin typeface="맑은 고딕"/>
            </a:endParaRPr>
          </a:p>
        </p:txBody>
      </p:sp>
      <p:sp>
        <p:nvSpPr>
          <p:cNvPr id="96" name="Shape 16"/>
          <p:cNvSpPr/>
          <p:nvPr/>
        </p:nvSpPr>
        <p:spPr>
          <a:xfrm>
            <a:off x="566928" y="3602895"/>
            <a:ext cx="2834640" cy="566928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97" name="Shape 17"/>
          <p:cNvSpPr/>
          <p:nvPr/>
        </p:nvSpPr>
        <p:spPr>
          <a:xfrm>
            <a:off x="3529584" y="3602895"/>
            <a:ext cx="3017520" cy="566928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98" name="Shape 18"/>
          <p:cNvSpPr/>
          <p:nvPr/>
        </p:nvSpPr>
        <p:spPr>
          <a:xfrm>
            <a:off x="6665976" y="3602895"/>
            <a:ext cx="4937760" cy="566928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99" name="Text 19"/>
          <p:cNvSpPr/>
          <p:nvPr/>
        </p:nvSpPr>
        <p:spPr>
          <a:xfrm>
            <a:off x="704088" y="3776631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500" b="1">
                <a:solidFill>
                  <a:srgbClr val="1d2a36"/>
                </a:solidFill>
                <a:latin typeface="맑은 고딕"/>
                <a:cs typeface="맑은 고딕"/>
              </a:rPr>
              <a:t>2인 게임</a:t>
            </a:r>
            <a:endParaRPr lang="en-US" sz="1500">
              <a:latin typeface="맑은 고딕"/>
            </a:endParaRPr>
          </a:p>
        </p:txBody>
      </p:sp>
      <p:sp>
        <p:nvSpPr>
          <p:cNvPr id="100" name="Text 20"/>
          <p:cNvSpPr/>
          <p:nvPr/>
        </p:nvSpPr>
        <p:spPr>
          <a:xfrm>
            <a:off x="3666744" y="372176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500">
                <a:solidFill>
                  <a:srgbClr val="1d2a36"/>
                </a:solidFill>
                <a:latin typeface="맑은 고딕"/>
                <a:cs typeface="맑은 고딕"/>
              </a:rPr>
              <a:t>한 프레임에 두 플레이어 검출</a:t>
            </a:r>
            <a:endParaRPr lang="en-US" sz="1500">
              <a:latin typeface="맑은 고딕"/>
            </a:endParaRPr>
          </a:p>
        </p:txBody>
      </p:sp>
      <p:sp>
        <p:nvSpPr>
          <p:cNvPr id="101" name="Text 21"/>
          <p:cNvSpPr/>
          <p:nvPr/>
        </p:nvSpPr>
        <p:spPr>
          <a:xfrm>
            <a:off x="6803136" y="372176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500">
                <a:solidFill>
                  <a:srgbClr val="1d2a36"/>
                </a:solidFill>
                <a:latin typeface="맑은 고딕"/>
                <a:cs typeface="맑은 고딕"/>
              </a:rPr>
              <a:t>박스 중심 x좌표로 좌우 영역 분리</a:t>
            </a:r>
            <a:endParaRPr lang="en-US" sz="1500">
              <a:latin typeface="맑은 고딕"/>
            </a:endParaRPr>
          </a:p>
        </p:txBody>
      </p:sp>
      <p:sp>
        <p:nvSpPr>
          <p:cNvPr id="102" name="Shape 22"/>
          <p:cNvSpPr/>
          <p:nvPr/>
        </p:nvSpPr>
        <p:spPr>
          <a:xfrm>
            <a:off x="566928" y="4270407"/>
            <a:ext cx="2834640" cy="566928"/>
          </a:xfrm>
          <a:prstGeom prst="roundRect">
            <a:avLst>
              <a:gd name="adj" fmla="val 16667"/>
            </a:avLst>
          </a:prstGeom>
          <a:solidFill>
            <a:srgbClr val="ea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103" name="Shape 23"/>
          <p:cNvSpPr/>
          <p:nvPr/>
        </p:nvSpPr>
        <p:spPr>
          <a:xfrm>
            <a:off x="3529584" y="4270407"/>
            <a:ext cx="3017520" cy="566928"/>
          </a:xfrm>
          <a:prstGeom prst="roundRect">
            <a:avLst>
              <a:gd name="adj" fmla="val 16667"/>
            </a:avLst>
          </a:prstGeom>
          <a:solidFill>
            <a:srgbClr val="ea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104" name="Shape 24"/>
          <p:cNvSpPr/>
          <p:nvPr/>
        </p:nvSpPr>
        <p:spPr>
          <a:xfrm>
            <a:off x="6665976" y="4270407"/>
            <a:ext cx="4937760" cy="566928"/>
          </a:xfrm>
          <a:prstGeom prst="roundRect">
            <a:avLst>
              <a:gd name="adj" fmla="val 16667"/>
            </a:avLst>
          </a:prstGeom>
          <a:solidFill>
            <a:srgbClr val="ea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105" name="Text 25"/>
          <p:cNvSpPr/>
          <p:nvPr/>
        </p:nvSpPr>
        <p:spPr>
          <a:xfrm>
            <a:off x="704088" y="4444143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500" b="1">
                <a:solidFill>
                  <a:srgbClr val="1d2a36"/>
                </a:solidFill>
                <a:latin typeface="맑은 고딕"/>
                <a:cs typeface="맑은 고딕"/>
              </a:rPr>
              <a:t>안정적 판정</a:t>
            </a:r>
            <a:endParaRPr lang="en-US" sz="1500">
              <a:latin typeface="맑은 고딕"/>
            </a:endParaRPr>
          </a:p>
        </p:txBody>
      </p:sp>
      <p:sp>
        <p:nvSpPr>
          <p:cNvPr id="106" name="Text 26"/>
          <p:cNvSpPr/>
          <p:nvPr/>
        </p:nvSpPr>
        <p:spPr>
          <a:xfrm>
            <a:off x="3666744" y="438927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500">
                <a:solidFill>
                  <a:srgbClr val="1d2a36"/>
                </a:solidFill>
                <a:latin typeface="맑은 고딕"/>
                <a:cs typeface="맑은 고딕"/>
              </a:rPr>
              <a:t>순간 오인식 영향 완화</a:t>
            </a:r>
            <a:endParaRPr lang="en-US" sz="1500">
              <a:latin typeface="맑은 고딕"/>
            </a:endParaRPr>
          </a:p>
        </p:txBody>
      </p:sp>
      <p:sp>
        <p:nvSpPr>
          <p:cNvPr id="107" name="Text 27"/>
          <p:cNvSpPr/>
          <p:nvPr/>
        </p:nvSpPr>
        <p:spPr>
          <a:xfrm>
            <a:off x="6803136" y="4389279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500">
                <a:solidFill>
                  <a:srgbClr val="1d2a36"/>
                </a:solidFill>
                <a:latin typeface="맑은 고딕"/>
                <a:cs typeface="맑은 고딕"/>
              </a:rPr>
              <a:t>종료 전 0.5초 투표의 최빈값 선택</a:t>
            </a:r>
            <a:endParaRPr lang="en-US" sz="1500">
              <a:latin typeface="맑은 고딕"/>
            </a:endParaRPr>
          </a:p>
        </p:txBody>
      </p:sp>
      <p:sp>
        <p:nvSpPr>
          <p:cNvPr id="108" name="Shape 28"/>
          <p:cNvSpPr/>
          <p:nvPr/>
        </p:nvSpPr>
        <p:spPr>
          <a:xfrm>
            <a:off x="566928" y="4937919"/>
            <a:ext cx="2834640" cy="566928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109" name="Shape 29"/>
          <p:cNvSpPr/>
          <p:nvPr/>
        </p:nvSpPr>
        <p:spPr>
          <a:xfrm>
            <a:off x="3529584" y="4937919"/>
            <a:ext cx="3017520" cy="566928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110" name="Shape 30"/>
          <p:cNvSpPr/>
          <p:nvPr/>
        </p:nvSpPr>
        <p:spPr>
          <a:xfrm>
            <a:off x="6665976" y="4937919"/>
            <a:ext cx="4937760" cy="566928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 sz="1500">
              <a:latin typeface="맑은 고딕"/>
            </a:endParaRPr>
          </a:p>
        </p:txBody>
      </p:sp>
      <p:sp>
        <p:nvSpPr>
          <p:cNvPr id="111" name="Text 31"/>
          <p:cNvSpPr/>
          <p:nvPr/>
        </p:nvSpPr>
        <p:spPr>
          <a:xfrm>
            <a:off x="704088" y="5111655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500" b="1">
                <a:solidFill>
                  <a:srgbClr val="1d2a36"/>
                </a:solidFill>
                <a:latin typeface="맑은 고딕"/>
                <a:cs typeface="맑은 고딕"/>
              </a:rPr>
              <a:t>상태 관리</a:t>
            </a:r>
            <a:endParaRPr lang="en-US" sz="1500">
              <a:latin typeface="맑은 고딕"/>
            </a:endParaRPr>
          </a:p>
        </p:txBody>
      </p:sp>
      <p:sp>
        <p:nvSpPr>
          <p:cNvPr id="112" name="Text 32"/>
          <p:cNvSpPr/>
          <p:nvPr/>
        </p:nvSpPr>
        <p:spPr>
          <a:xfrm>
            <a:off x="3666744" y="505679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500">
                <a:solidFill>
                  <a:srgbClr val="1d2a36"/>
                </a:solidFill>
                <a:latin typeface="맑은 고딕"/>
                <a:cs typeface="맑은 고딕"/>
              </a:rPr>
              <a:t>라운드 결과와 점수 제공</a:t>
            </a:r>
            <a:endParaRPr lang="en-US" sz="1500">
              <a:latin typeface="맑은 고딕"/>
            </a:endParaRPr>
          </a:p>
        </p:txBody>
      </p:sp>
      <p:sp>
        <p:nvSpPr>
          <p:cNvPr id="113" name="Text 33"/>
          <p:cNvSpPr/>
          <p:nvPr/>
        </p:nvSpPr>
        <p:spPr>
          <a:xfrm>
            <a:off x="6803136" y="5056791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500">
                <a:solidFill>
                  <a:srgbClr val="1d2a36"/>
                </a:solidFill>
                <a:latin typeface="맑은 고딕"/>
                <a:cs typeface="맑은 고딕"/>
              </a:rPr>
              <a:t>승·무·패 누적, 결과 고정, r 키 초기화</a:t>
            </a:r>
            <a:endParaRPr lang="en-US" sz="1500">
              <a:latin typeface="맑은 고딕"/>
            </a:endParaRPr>
          </a:p>
        </p:txBody>
      </p:sp>
      <p:sp>
        <p:nvSpPr>
          <p:cNvPr id="114" name="Shape 34"/>
          <p:cNvSpPr/>
          <p:nvPr/>
        </p:nvSpPr>
        <p:spPr>
          <a:xfrm>
            <a:off x="566928" y="7799229"/>
            <a:ext cx="11036808" cy="733806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15" name="Text 35"/>
          <p:cNvSpPr/>
          <p:nvPr/>
        </p:nvSpPr>
        <p:spPr>
          <a:xfrm>
            <a:off x="813816" y="7969578"/>
            <a:ext cx="502920" cy="389721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ko-KR" altLang="en-US" sz="1600" b="1">
                <a:solidFill>
                  <a:srgbClr val="16a6c8"/>
                </a:solidFill>
                <a:latin typeface="맑은 고딕"/>
              </a:rPr>
              <a:t>목표</a:t>
            </a:r>
            <a:endParaRPr lang="ko-KR" altLang="en-US" sz="1600" b="1">
              <a:solidFill>
                <a:srgbClr val="16a6c8"/>
              </a:solidFill>
              <a:latin typeface="맑은 고딕"/>
            </a:endParaRPr>
          </a:p>
        </p:txBody>
      </p:sp>
      <p:sp>
        <p:nvSpPr>
          <p:cNvPr id="116" name="Text 36"/>
          <p:cNvSpPr/>
          <p:nvPr/>
        </p:nvSpPr>
        <p:spPr>
          <a:xfrm>
            <a:off x="1499616" y="7969579"/>
            <a:ext cx="9710928" cy="3897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ko-KR" altLang="en-US" sz="1600">
                <a:solidFill>
                  <a:srgbClr val="ffffff"/>
                </a:solidFill>
                <a:latin typeface="맑은 고딕"/>
              </a:rPr>
              <a:t>가위</a:t>
            </a:r>
            <a:r>
              <a:rPr lang="en-US" altLang="ko-KR" sz="1600">
                <a:solidFill>
                  <a:srgbClr val="ffffff"/>
                </a:solidFill>
                <a:latin typeface="맑은 고딕"/>
                <a:cs typeface="맑은 고딕"/>
              </a:rPr>
              <a:t>,</a:t>
            </a:r>
            <a:r>
              <a:rPr lang="ko-KR" altLang="en-US" sz="1600">
                <a:solidFill>
                  <a:srgbClr val="ffffff"/>
                </a:solidFill>
                <a:latin typeface="맑은 고딕"/>
              </a:rPr>
              <a:t> 바위</a:t>
            </a:r>
            <a:r>
              <a:rPr lang="en-US" altLang="ko-KR" sz="1600">
                <a:solidFill>
                  <a:srgbClr val="ffffff"/>
                </a:solidFill>
                <a:latin typeface="맑은 고딕"/>
                <a:cs typeface="맑은 고딕"/>
              </a:rPr>
              <a:t>,</a:t>
            </a:r>
            <a:r>
              <a:rPr lang="ko-KR" altLang="en-US" sz="1600">
                <a:solidFill>
                  <a:srgbClr val="ffffff"/>
                </a:solidFill>
                <a:latin typeface="맑은 고딕"/>
              </a:rPr>
              <a:t> 보를 안정적으로 인식하고 계산하여 스코어 보드에 출력하는 시스템</a:t>
            </a:r>
            <a:endParaRPr lang="ko-KR" altLang="en-US" sz="160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566928" y="5620235"/>
            <a:ext cx="2834640" cy="566928"/>
          </a:xfrm>
          <a:prstGeom prst="roundRect">
            <a:avLst>
              <a:gd name="adj" fmla="val 16667"/>
            </a:avLst>
          </a:prstGeom>
          <a:solidFill>
            <a:srgbClr val="eaf6ff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6" name="Shape 23"/>
          <p:cNvSpPr/>
          <p:nvPr/>
        </p:nvSpPr>
        <p:spPr>
          <a:xfrm>
            <a:off x="3529584" y="5620235"/>
            <a:ext cx="3017520" cy="566928"/>
          </a:xfrm>
          <a:prstGeom prst="roundRect">
            <a:avLst>
              <a:gd name="adj" fmla="val 16667"/>
            </a:avLst>
          </a:prstGeom>
          <a:solidFill>
            <a:srgbClr val="eaf6ff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7" name="Shape 24"/>
          <p:cNvSpPr/>
          <p:nvPr/>
        </p:nvSpPr>
        <p:spPr>
          <a:xfrm>
            <a:off x="6665976" y="5620235"/>
            <a:ext cx="4937760" cy="566928"/>
          </a:xfrm>
          <a:prstGeom prst="roundRect">
            <a:avLst>
              <a:gd name="adj" fmla="val 16667"/>
            </a:avLst>
          </a:prstGeom>
          <a:solidFill>
            <a:srgbClr val="eaf6ff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8" name="Text 25"/>
          <p:cNvSpPr/>
          <p:nvPr/>
        </p:nvSpPr>
        <p:spPr>
          <a:xfrm>
            <a:off x="704088" y="5793971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</a:rPr>
              <a:t>인 플레이 예외 처리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</a:endParaRPr>
          </a:p>
        </p:txBody>
      </p:sp>
      <p:sp>
        <p:nvSpPr>
          <p:cNvPr id="129" name="Text 26"/>
          <p:cNvSpPr/>
          <p:nvPr/>
        </p:nvSpPr>
        <p:spPr>
          <a:xfrm>
            <a:off x="3666744" y="573910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</a:rPr>
              <a:t>손 감지 예외 시 판정 보류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</a:endParaRPr>
          </a:p>
        </p:txBody>
      </p:sp>
      <p:sp>
        <p:nvSpPr>
          <p:cNvPr id="130" name="Text 27"/>
          <p:cNvSpPr/>
          <p:nvPr/>
        </p:nvSpPr>
        <p:spPr>
          <a:xfrm>
            <a:off x="6803136" y="573910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1500" b="0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cs typeface="맑은 고딕"/>
              </a:rPr>
              <a:t>종료 전 0.5초 투표의 최빈값 선택</a:t>
            </a:r>
            <a:endParaRPr xmlns:mc="http://schemas.openxmlformats.org/markup-compatibility/2006" xmlns:hp="http://schemas.haansoft.com/office/presentation/8.0" kumimoji="0" 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1" name="Shape 28"/>
          <p:cNvSpPr/>
          <p:nvPr/>
        </p:nvSpPr>
        <p:spPr>
          <a:xfrm>
            <a:off x="566928" y="6287747"/>
            <a:ext cx="2834640" cy="566928"/>
          </a:xfrm>
          <a:prstGeom prst="roundRect">
            <a:avLst>
              <a:gd name="adj" fmla="val 16667"/>
            </a:avLst>
          </a:prstGeom>
          <a:solidFill>
            <a:srgbClr val="f7fafc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" name="Shape 29"/>
          <p:cNvSpPr/>
          <p:nvPr/>
        </p:nvSpPr>
        <p:spPr>
          <a:xfrm>
            <a:off x="3529584" y="6287747"/>
            <a:ext cx="3017520" cy="566928"/>
          </a:xfrm>
          <a:prstGeom prst="roundRect">
            <a:avLst>
              <a:gd name="adj" fmla="val 16667"/>
            </a:avLst>
          </a:prstGeom>
          <a:solidFill>
            <a:srgbClr val="f7fafc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" name="Shape 30"/>
          <p:cNvSpPr/>
          <p:nvPr/>
        </p:nvSpPr>
        <p:spPr>
          <a:xfrm>
            <a:off x="6665976" y="6287747"/>
            <a:ext cx="4937760" cy="566928"/>
          </a:xfrm>
          <a:prstGeom prst="roundRect">
            <a:avLst>
              <a:gd name="adj" fmla="val 16667"/>
            </a:avLst>
          </a:prstGeom>
          <a:solidFill>
            <a:srgbClr val="f7fafc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" name="Text 31"/>
          <p:cNvSpPr/>
          <p:nvPr/>
        </p:nvSpPr>
        <p:spPr>
          <a:xfrm>
            <a:off x="704088" y="6461483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</a:rPr>
              <a:t>동작 고정</a:t>
            </a: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</a:endParaRPr>
          </a:p>
        </p:txBody>
      </p:sp>
      <p:sp>
        <p:nvSpPr>
          <p:cNvPr id="135" name="Text 32"/>
          <p:cNvSpPr/>
          <p:nvPr/>
        </p:nvSpPr>
        <p:spPr>
          <a:xfrm>
            <a:off x="3666744" y="640661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</a:rPr>
              <a:t>라운드 결과 정지 화면 제공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</a:endParaRPr>
          </a:p>
        </p:txBody>
      </p:sp>
      <p:sp>
        <p:nvSpPr>
          <p:cNvPr id="136" name="Text 33"/>
          <p:cNvSpPr/>
          <p:nvPr/>
        </p:nvSpPr>
        <p:spPr>
          <a:xfrm>
            <a:off x="6803136" y="6406619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</a:rPr>
              <a:t>승패 판정 순간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  <a:cs typeface="맑은 고딕"/>
              </a:rPr>
              <a:t>freeze_frame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1d2a36"/>
                </a:solidFill>
                <a:latin typeface="맑은 고딕"/>
              </a:rPr>
              <a:t> 후 사용자 화면까지 정지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1d2a36"/>
              </a:solidFill>
              <a:latin typeface="맑은 고딕"/>
            </a:endParaRPr>
          </a:p>
        </p:txBody>
      </p:sp>
      <p:pic>
        <p:nvPicPr>
          <p:cNvPr id="137" name="그림 13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010208" y="1766749"/>
            <a:ext cx="3285516" cy="6909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6928" y="634786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ko-KR" altLang="en-US" sz="2900" b="1">
                <a:solidFill>
                  <a:srgbClr val="102a43"/>
                </a:solidFill>
                <a:latin typeface="맑은 고딕"/>
                <a:ea typeface="맑은 고딕"/>
                <a:cs typeface="맑은 고딕"/>
              </a:rPr>
              <a:t>개발 목표 및 개발 결과</a:t>
            </a:r>
            <a:endParaRPr lang="ko-KR" altLang="en-US" sz="2900" b="1">
              <a:solidFill>
                <a:srgbClr val="102a4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566928" y="1133254"/>
            <a:ext cx="8778082" cy="25034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>
              <a:buNone/>
              <a:defRPr/>
            </a:pPr>
            <a:r>
              <a:rPr lang="ko-KR" altLang="en-US" sz="1050">
                <a:solidFill>
                  <a:schemeClr val="lt1"/>
                </a:solidFill>
                <a:latin typeface="맑은 고딕"/>
                <a:ea typeface="맑은 고딕"/>
                <a:cs typeface="맑은 고딕"/>
              </a:rPr>
              <a:t>구현 결과</a:t>
            </a:r>
            <a:endParaRPr lang="ko-KR" altLang="en-US" sz="1050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0"/>
          <p:cNvSpPr/>
          <p:nvPr/>
        </p:nvSpPr>
        <p:spPr>
          <a:xfrm>
            <a:off x="566928" y="350996"/>
            <a:ext cx="411480" cy="868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altLang="ko-KR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en-US" altLang="ko-KR" sz="16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40" name="그림 13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753001" y="2262753"/>
            <a:ext cx="3506231" cy="3231233"/>
          </a:xfrm>
          <a:prstGeom prst="rect">
            <a:avLst/>
          </a:prstGeom>
        </p:spPr>
      </p:pic>
      <p:sp>
        <p:nvSpPr>
          <p:cNvPr id="143" name="가로 글상자 142"/>
          <p:cNvSpPr txBox="1"/>
          <p:nvPr/>
        </p:nvSpPr>
        <p:spPr>
          <a:xfrm>
            <a:off x="594956" y="5835325"/>
            <a:ext cx="7602847" cy="3649670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en-US" altLang="ko-KR" b="1">
                <a:latin typeface="맑은 고딕"/>
              </a:rPr>
              <a:t>P1 Win/P2 Win :</a:t>
            </a:r>
            <a:r>
              <a:rPr lang="en-US" altLang="ko-KR">
                <a:latin typeface="맑은 고딕"/>
              </a:rPr>
              <a:t> Bounding Box </a:t>
            </a:r>
            <a:r>
              <a:rPr lang="ko-KR" altLang="en-US">
                <a:latin typeface="맑은 고딕"/>
              </a:rPr>
              <a:t>중심 좌</a:t>
            </a:r>
            <a:r>
              <a:rPr lang="en-US" altLang="ko-KR">
                <a:latin typeface="맑은 고딕"/>
              </a:rPr>
              <a:t>/</a:t>
            </a:r>
            <a:r>
              <a:rPr lang="ko-KR" altLang="en-US">
                <a:latin typeface="맑은 고딕"/>
              </a:rPr>
              <a:t>우 영역 구분 및 실시간 승패 판정</a:t>
            </a:r>
            <a:endParaRPr lang="ko-KR" altLang="en-US">
              <a:latin typeface="맑은 고딕"/>
            </a:endParaRPr>
          </a:p>
          <a:p>
            <a:pPr marL="0" lvl="0" indent="0">
              <a:buClr>
                <a:schemeClr val="tx1"/>
              </a:buClr>
              <a:buFont typeface="Arial"/>
              <a:buNone/>
              <a:defRPr/>
            </a:pP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en-US" altLang="ko-KR" b="1">
                <a:latin typeface="맑은 고딕"/>
              </a:rPr>
              <a:t>Draw : </a:t>
            </a:r>
            <a:r>
              <a:rPr lang="ko-KR" altLang="en-US">
                <a:latin typeface="맑은 고딕"/>
              </a:rPr>
              <a:t>동일</a:t>
            </a:r>
            <a:r>
              <a:rPr lang="en-US" altLang="ko-KR">
                <a:latin typeface="맑은 고딕"/>
              </a:rPr>
              <a:t> Class</a:t>
            </a:r>
            <a:r>
              <a:rPr lang="ko-KR" altLang="en-US">
                <a:latin typeface="맑은 고딕"/>
              </a:rPr>
              <a:t> 감지 시 무승부 처리로 로직 작동</a:t>
            </a: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예외판정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손 객체가 </a:t>
            </a:r>
            <a:r>
              <a:rPr lang="en-US" altLang="ko-KR">
                <a:latin typeface="맑은 고딕"/>
              </a:rPr>
              <a:t>2</a:t>
            </a:r>
            <a:r>
              <a:rPr lang="ko-KR" altLang="en-US">
                <a:latin typeface="맑은 고딕"/>
              </a:rPr>
              <a:t>개 미만</a:t>
            </a:r>
            <a:r>
              <a:rPr lang="en-US" altLang="ko-KR">
                <a:latin typeface="맑은 고딕"/>
              </a:rPr>
              <a:t>/</a:t>
            </a:r>
            <a:r>
              <a:rPr lang="ko-KR" altLang="en-US">
                <a:latin typeface="맑은 고딕"/>
              </a:rPr>
              <a:t> 초과 감지 시 게임 보류</a:t>
            </a: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프리징 및 상태 제어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판정 후 화면 정지</a:t>
            </a:r>
            <a:r>
              <a:rPr lang="en-US" altLang="ko-KR">
                <a:latin typeface="맑은 고딕"/>
              </a:rPr>
              <a:t>(Press any key to continue) </a:t>
            </a:r>
            <a:r>
              <a:rPr lang="ko-KR" altLang="en-US">
                <a:latin typeface="맑은 고딕"/>
              </a:rPr>
              <a:t>및 상단 스코어 보드 연동 </a:t>
            </a:r>
            <a:r>
              <a:rPr lang="en-US" altLang="ko-KR">
                <a:latin typeface="맑은 고딕"/>
              </a:rPr>
              <a:t>(</a:t>
            </a:r>
            <a:r>
              <a:rPr lang="ko-KR" altLang="en-US">
                <a:latin typeface="맑은 고딕"/>
              </a:rPr>
              <a:t> </a:t>
            </a:r>
            <a:r>
              <a:rPr lang="en-US" altLang="ko-KR">
                <a:latin typeface="맑은 고딕"/>
              </a:rPr>
              <a:t>r : </a:t>
            </a:r>
            <a:r>
              <a:rPr lang="ko-KR" altLang="en-US">
                <a:latin typeface="맑은 고딕"/>
              </a:rPr>
              <a:t>리셋</a:t>
            </a:r>
            <a:r>
              <a:rPr lang="en-US" altLang="ko-KR">
                <a:latin typeface="맑은 고딕"/>
              </a:rPr>
              <a:t>,</a:t>
            </a:r>
            <a:r>
              <a:rPr lang="ko-KR" altLang="en-US">
                <a:latin typeface="맑은 고딕"/>
              </a:rPr>
              <a:t> </a:t>
            </a:r>
            <a:r>
              <a:rPr lang="en-US" altLang="ko-KR">
                <a:latin typeface="맑은 고딕"/>
              </a:rPr>
              <a:t>q :</a:t>
            </a:r>
            <a:r>
              <a:rPr lang="ko-KR" altLang="en-US">
                <a:latin typeface="맑은 고딕"/>
              </a:rPr>
              <a:t> 종료</a:t>
            </a:r>
            <a:r>
              <a:rPr lang="en-US" altLang="ko-KR">
                <a:latin typeface="맑은 고딕"/>
              </a:rPr>
              <a:t>)</a:t>
            </a:r>
            <a:endParaRPr lang="en-US" altLang="ko-KR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안정화 :</a:t>
            </a:r>
            <a:r>
              <a:rPr lang="ko-KR" altLang="en-US">
                <a:latin typeface="맑은 고딕"/>
              </a:rPr>
              <a:t> 카운트다운 종료 전 마지막 0.5초 수집 데이터의 최빈값 추출로 순간 오인식 완화</a:t>
            </a: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endParaRPr lang="ko-KR" altLang="en-US">
              <a:latin typeface="맑은 고딕"/>
            </a:endParaRPr>
          </a:p>
        </p:txBody>
      </p:sp>
      <p:pic>
        <p:nvPicPr>
          <p:cNvPr id="144" name="그림 14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66928" y="2262753"/>
            <a:ext cx="3493224" cy="3231233"/>
          </a:xfrm>
          <a:prstGeom prst="rect">
            <a:avLst/>
          </a:prstGeom>
        </p:spPr>
      </p:pic>
      <p:pic>
        <p:nvPicPr>
          <p:cNvPr id="145" name="그림 14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615349" y="2277946"/>
            <a:ext cx="3582454" cy="3231233"/>
          </a:xfrm>
          <a:prstGeom prst="rect">
            <a:avLst/>
          </a:prstGeom>
        </p:spPr>
      </p:pic>
      <p:pic>
        <p:nvPicPr>
          <p:cNvPr id="147" name="그림 14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778082" y="6578940"/>
            <a:ext cx="7626605" cy="1895740"/>
          </a:xfrm>
          <a:prstGeom prst="rect">
            <a:avLst/>
          </a:prstGeom>
        </p:spPr>
      </p:pic>
      <p:pic>
        <p:nvPicPr>
          <p:cNvPr id="148" name="그림 14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2814430" y="2262753"/>
            <a:ext cx="3590258" cy="3231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6928" y="634786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ko-KR" altLang="en-US" sz="2900" b="1">
                <a:solidFill>
                  <a:srgbClr val="102a43"/>
                </a:solidFill>
                <a:latin typeface="맑은 고딕"/>
                <a:ea typeface="맑은 고딕"/>
                <a:cs typeface="맑은 고딕"/>
              </a:rPr>
              <a:t>핵심 기술</a:t>
            </a:r>
            <a:endParaRPr lang="ko-KR" altLang="en-US" sz="2900" b="1">
              <a:solidFill>
                <a:srgbClr val="102a4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566928" y="1133254"/>
            <a:ext cx="8778082" cy="25034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>
              <a:buNone/>
              <a:defRPr/>
            </a:pPr>
            <a:endParaRPr lang="ko-KR" altLang="en-US" sz="1050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0"/>
          <p:cNvSpPr/>
          <p:nvPr/>
        </p:nvSpPr>
        <p:spPr>
          <a:xfrm>
            <a:off x="576453" y="350996"/>
            <a:ext cx="411480" cy="868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altLang="ko-KR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en-US" altLang="ko-KR" sz="16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9" name="가로 글상자 148"/>
          <p:cNvSpPr txBox="1"/>
          <p:nvPr/>
        </p:nvSpPr>
        <p:spPr>
          <a:xfrm>
            <a:off x="585978" y="2396331"/>
            <a:ext cx="4379516" cy="39576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000" b="1">
                <a:latin typeface="맑은 고딕"/>
              </a:rPr>
              <a:t>1.</a:t>
            </a:r>
            <a:r>
              <a:rPr lang="ko-KR" altLang="en-US" sz="2000" b="1">
                <a:latin typeface="맑은 고딕"/>
              </a:rPr>
              <a:t> </a:t>
            </a:r>
            <a:r>
              <a:rPr lang="en-US" altLang="ko-KR" sz="2000" b="1">
                <a:latin typeface="맑은 고딕"/>
              </a:rPr>
              <a:t>YOLOv11</a:t>
            </a:r>
            <a:r>
              <a:rPr lang="ko-KR" altLang="en-US" sz="2000" b="1">
                <a:latin typeface="맑은 고딕"/>
              </a:rPr>
              <a:t> 기반 </a:t>
            </a:r>
            <a:r>
              <a:rPr lang="en-US" altLang="ko-KR" sz="2000" b="1">
                <a:latin typeface="맑은 고딕"/>
              </a:rPr>
              <a:t>AI</a:t>
            </a:r>
            <a:r>
              <a:rPr lang="ko-KR" altLang="en-US" sz="2000" b="1">
                <a:latin typeface="맑은 고딕"/>
              </a:rPr>
              <a:t> 추론 및 후처리</a:t>
            </a:r>
            <a:endParaRPr lang="ko-KR" altLang="en-US" sz="2000" b="1">
              <a:latin typeface="맑은 고딕"/>
            </a:endParaRPr>
          </a:p>
        </p:txBody>
      </p:sp>
      <p:sp>
        <p:nvSpPr>
          <p:cNvPr id="150" name="가로 글상자 149"/>
          <p:cNvSpPr txBox="1"/>
          <p:nvPr/>
        </p:nvSpPr>
        <p:spPr>
          <a:xfrm>
            <a:off x="576453" y="2950846"/>
            <a:ext cx="7411846" cy="1457324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입력 규격화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en-US" altLang="ko-KR">
                <a:latin typeface="맑은 고딕"/>
              </a:rPr>
              <a:t>320x320</a:t>
            </a:r>
            <a:r>
              <a:rPr lang="ko-KR" altLang="en-US">
                <a:latin typeface="맑은 고딕"/>
              </a:rPr>
              <a:t> 정방형 </a:t>
            </a:r>
            <a:r>
              <a:rPr lang="en-US" altLang="ko-KR">
                <a:latin typeface="맑은 고딕"/>
              </a:rPr>
              <a:t>Letterbox</a:t>
            </a:r>
            <a:r>
              <a:rPr lang="ko-KR" altLang="en-US">
                <a:latin typeface="맑은 고딕"/>
              </a:rPr>
              <a:t> 전처리 적용 </a:t>
            </a:r>
            <a:r>
              <a:rPr lang="en-US" altLang="ko-KR">
                <a:latin typeface="맑은 고딕"/>
              </a:rPr>
              <a:t>-&gt;</a:t>
            </a:r>
            <a:r>
              <a:rPr lang="ko-KR" altLang="en-US">
                <a:latin typeface="맑은 고딕"/>
              </a:rPr>
              <a:t> 손 모양 비율 왜곡 방지</a:t>
            </a: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후처리 필터링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en-US" altLang="ko-KR">
                <a:latin typeface="맑은 고딕"/>
              </a:rPr>
              <a:t>CONF_TH(0.4), IOU_TH(0.45)</a:t>
            </a:r>
            <a:r>
              <a:rPr lang="ko-KR" altLang="en-US">
                <a:latin typeface="맑은 고딕"/>
              </a:rPr>
              <a:t>기준 바운딩 박스 중복 제거 및 좌표 복원</a:t>
            </a:r>
            <a:endParaRPr lang="ko-KR" altLang="en-US">
              <a:latin typeface="맑은 고딕"/>
            </a:endParaRPr>
          </a:p>
        </p:txBody>
      </p:sp>
      <p:sp>
        <p:nvSpPr>
          <p:cNvPr id="151" name="가로 글상자 150"/>
          <p:cNvSpPr txBox="1"/>
          <p:nvPr/>
        </p:nvSpPr>
        <p:spPr>
          <a:xfrm>
            <a:off x="9289956" y="2396331"/>
            <a:ext cx="6665516" cy="392588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좌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우 플레이어 영역 분리 및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인 게임 예외 처리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2" name="가로 글상자 151"/>
          <p:cNvSpPr txBox="1"/>
          <p:nvPr/>
        </p:nvSpPr>
        <p:spPr>
          <a:xfrm>
            <a:off x="9280431" y="2950846"/>
            <a:ext cx="7411846" cy="2009774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좌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우 플레이어 독립 검출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NMS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 박스의 중심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X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좌표를 계산하여 중앙 기준으로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P1/P2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분류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cs typeface="Calibri"/>
            </a:endParaRPr>
          </a:p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cs typeface="Calibri"/>
            </a:endParaRPr>
          </a:p>
          <a:p>
            <a:pPr marL="257040" lvl="0" indent="-2570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조건부 예외 처리 로직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if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len(left_boxes) != 1 or len(right_boxes) != 1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구조를 이용하여 영역 내 손 감지 후 판정 유예 및 경고 문구 출력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cs typeface="Calibri"/>
            </a:endParaRPr>
          </a:p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   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Need 2 hands detected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54" name="그림 15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828188" y="4937919"/>
            <a:ext cx="3589051" cy="3208091"/>
          </a:xfrm>
          <a:prstGeom prst="rect">
            <a:avLst/>
          </a:prstGeom>
        </p:spPr>
      </p:pic>
      <p:pic>
        <p:nvPicPr>
          <p:cNvPr id="155" name="그림 15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05341" y="4937919"/>
            <a:ext cx="5754070" cy="3208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그림 15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558334" y="3510756"/>
            <a:ext cx="7259022" cy="3993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634786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ko-KR" altLang="en-US" sz="2900" b="1">
                <a:solidFill>
                  <a:srgbClr val="102a43"/>
                </a:solidFill>
                <a:latin typeface="맑은 고딕"/>
              </a:rPr>
              <a:t>핵심 기술</a:t>
            </a:r>
            <a:endParaRPr lang="ko-KR" altLang="en-US" sz="2900" b="1">
              <a:solidFill>
                <a:srgbClr val="102a43"/>
              </a:solidFill>
              <a:latin typeface="맑은 고딕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566928" y="1133254"/>
            <a:ext cx="8778082" cy="25034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>
              <a:buNone/>
              <a:defRPr/>
            </a:pPr>
            <a:endParaRPr lang="ko-KR" altLang="en-US" sz="1050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6" name="Text 0"/>
          <p:cNvSpPr/>
          <p:nvPr/>
        </p:nvSpPr>
        <p:spPr>
          <a:xfrm>
            <a:off x="576453" y="350996"/>
            <a:ext cx="411480" cy="868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cs typeface="맑은 고딕"/>
              </a:rPr>
              <a:t>0</a:t>
            </a:r>
            <a:r>
              <a:rPr lang="en-US" altLang="ko-KR" sz="1600" b="1">
                <a:solidFill>
                  <a:srgbClr val="ffffff"/>
                </a:solidFill>
                <a:latin typeface="맑은 고딕"/>
                <a:cs typeface="맑은 고딕"/>
              </a:rPr>
              <a:t>3</a:t>
            </a:r>
            <a:endParaRPr lang="en-US" altLang="ko-KR" sz="1600" b="1">
              <a:solidFill>
                <a:srgbClr val="ffffff"/>
              </a:solidFill>
              <a:latin typeface="맑은 고딕"/>
              <a:cs typeface="맑은 고딕"/>
            </a:endParaRPr>
          </a:p>
        </p:txBody>
      </p:sp>
      <p:sp>
        <p:nvSpPr>
          <p:cNvPr id="149" name="가로 글상자 148"/>
          <p:cNvSpPr txBox="1"/>
          <p:nvPr/>
        </p:nvSpPr>
        <p:spPr>
          <a:xfrm>
            <a:off x="585978" y="2389981"/>
            <a:ext cx="4379516" cy="39576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000" b="1">
                <a:latin typeface="맑은 고딕"/>
              </a:rPr>
              <a:t>3.</a:t>
            </a:r>
            <a:r>
              <a:rPr lang="ko-KR" altLang="en-US" sz="2000" b="1">
                <a:latin typeface="맑은 고딕"/>
              </a:rPr>
              <a:t> </a:t>
            </a:r>
            <a:r>
              <a:rPr lang="en-US" altLang="ko-KR" sz="2000" b="1">
                <a:latin typeface="맑은 고딕"/>
              </a:rPr>
              <a:t>0.5</a:t>
            </a:r>
            <a:r>
              <a:rPr lang="ko-KR" altLang="en-US" sz="2000" b="1">
                <a:latin typeface="맑은 고딕"/>
              </a:rPr>
              <a:t>초 최빈값 다수결 및 상태 관리</a:t>
            </a:r>
            <a:endParaRPr lang="ko-KR" altLang="en-US" sz="2000" b="1">
              <a:latin typeface="맑은 고딕"/>
            </a:endParaRPr>
          </a:p>
        </p:txBody>
      </p:sp>
      <p:sp>
        <p:nvSpPr>
          <p:cNvPr id="150" name="가로 글상자 149"/>
          <p:cNvSpPr txBox="1"/>
          <p:nvPr/>
        </p:nvSpPr>
        <p:spPr>
          <a:xfrm>
            <a:off x="585978" y="3510756"/>
            <a:ext cx="8972357" cy="3993039"/>
          </a:xfrm>
          <a:prstGeom prst="rect">
            <a:avLst/>
          </a:prstGeom>
        </p:spPr>
        <p:txBody>
          <a:bodyPr wrap="square">
            <a:spAutoFit/>
          </a:bodyPr>
          <a:p>
            <a:pPr marL="333000" lvl="0" indent="-333000">
              <a:buClr>
                <a:schemeClr val="tx1"/>
              </a:buClr>
              <a:buFont typeface="Arial"/>
              <a:buAutoNum type="arabicPeriod"/>
              <a:defRPr/>
            </a:pPr>
            <a:r>
              <a:rPr lang="ko-KR" altLang="en-US" sz="1600" b="1">
                <a:latin typeface="맑은 고딕"/>
              </a:rPr>
              <a:t>현상 </a:t>
            </a:r>
            <a:r>
              <a:rPr lang="en-US" altLang="ko-KR" sz="1600" b="1">
                <a:latin typeface="맑은 고딕"/>
              </a:rPr>
              <a:t>:</a:t>
            </a:r>
            <a:r>
              <a:rPr lang="ko-KR" altLang="en-US" sz="1600" b="1">
                <a:latin typeface="맑은 고딕"/>
              </a:rPr>
              <a:t> </a:t>
            </a:r>
            <a:r>
              <a:rPr lang="ko-KR" altLang="en-US" sz="1600">
                <a:latin typeface="맑은 고딕"/>
              </a:rPr>
              <a:t>카운트다운 완료 순간의 </a:t>
            </a:r>
            <a:r>
              <a:rPr lang="en-US" altLang="ko-KR" sz="1600">
                <a:latin typeface="맑은 고딕"/>
              </a:rPr>
              <a:t>1</a:t>
            </a:r>
            <a:r>
              <a:rPr lang="ko-KR" altLang="en-US" sz="1600">
                <a:latin typeface="맑은 고딕"/>
              </a:rPr>
              <a:t>개 프레임 단일 추론 결과만으로 승패를 판정할 때 오인식</a:t>
            </a:r>
            <a:r>
              <a:rPr lang="en-US" altLang="ko-KR" sz="1600">
                <a:latin typeface="맑은 고딕"/>
              </a:rPr>
              <a:t> </a:t>
            </a:r>
            <a:r>
              <a:rPr lang="ko-KR" altLang="en-US" sz="1600"/>
              <a:t>		</a:t>
            </a:r>
            <a:r>
              <a:rPr lang="ko-KR" altLang="en-US" sz="1600">
                <a:latin typeface="맑은 고딕"/>
              </a:rPr>
              <a:t>발생</a:t>
            </a:r>
            <a:endParaRPr lang="ko-KR" altLang="en-US" sz="1600">
              <a:latin typeface="맑은 고딕"/>
            </a:endParaRPr>
          </a:p>
          <a:p>
            <a:pPr marL="914400" lvl="2" indent="0">
              <a:buClr>
                <a:schemeClr val="tx1"/>
              </a:buClr>
              <a:buFont typeface="Arial"/>
              <a:buNone/>
              <a:defRPr/>
            </a:pPr>
            <a:r>
              <a:rPr lang="ko-KR" altLang="en-US" sz="1600">
                <a:latin typeface="맑은 고딕"/>
              </a:rPr>
              <a:t>사용자가 가위</a:t>
            </a:r>
            <a:r>
              <a:rPr lang="en-US" altLang="ko-KR" sz="1600">
                <a:latin typeface="맑은 고딕"/>
              </a:rPr>
              <a:t>/</a:t>
            </a:r>
            <a:r>
              <a:rPr lang="ko-KR" altLang="en-US" sz="1600">
                <a:latin typeface="맑은 고딕"/>
              </a:rPr>
              <a:t> 바위</a:t>
            </a:r>
            <a:r>
              <a:rPr lang="en-US" altLang="ko-KR" sz="1600">
                <a:latin typeface="맑은 고딕"/>
              </a:rPr>
              <a:t>/</a:t>
            </a:r>
            <a:r>
              <a:rPr lang="ko-KR" altLang="en-US" sz="1600">
                <a:latin typeface="맑은 고딕"/>
              </a:rPr>
              <a:t> 보 손 모양을 만드는 과정에서 프레임이 튀어 잘못된 판정 결과가 출력</a:t>
            </a:r>
            <a:endParaRPr lang="ko-KR" altLang="en-US" sz="1600">
              <a:latin typeface="맑은 고딕"/>
            </a:endParaRPr>
          </a:p>
          <a:p>
            <a:pPr marL="1247400" lvl="2" indent="-333000">
              <a:buClr>
                <a:schemeClr val="tx1"/>
              </a:buClr>
              <a:buFont typeface="Arial"/>
              <a:buAutoNum type="arabicPeriod"/>
              <a:defRPr/>
            </a:pPr>
            <a:endParaRPr lang="ko-KR" altLang="en-US" sz="1600" b="1">
              <a:latin typeface="맑은 고딕"/>
            </a:endParaRPr>
          </a:p>
          <a:p>
            <a:pPr marL="914400" lvl="2" indent="0">
              <a:buClr>
                <a:schemeClr val="tx1"/>
              </a:buClr>
              <a:buFont typeface="Arial"/>
              <a:buNone/>
              <a:defRPr/>
            </a:pPr>
            <a:endParaRPr lang="ko-KR" altLang="en-US" sz="1600" b="1">
              <a:latin typeface="맑은 고딕"/>
            </a:endParaRPr>
          </a:p>
          <a:p>
            <a:pPr marL="333000" lvl="0" indent="-333000">
              <a:buClr>
                <a:schemeClr val="tx1"/>
              </a:buClr>
              <a:buFont typeface="Arial"/>
              <a:buAutoNum type="arabicPeriod"/>
              <a:defRPr/>
            </a:pPr>
            <a:r>
              <a:rPr lang="ko-KR" altLang="en-US" sz="1600" b="1">
                <a:latin typeface="맑은 고딕"/>
              </a:rPr>
              <a:t>원인 </a:t>
            </a:r>
            <a:r>
              <a:rPr lang="en-US" altLang="ko-KR" sz="1600" b="1">
                <a:latin typeface="맑은 고딕"/>
              </a:rPr>
              <a:t>:</a:t>
            </a:r>
            <a:r>
              <a:rPr lang="ko-KR" altLang="en-US" sz="1600" b="1">
                <a:latin typeface="맑은 고딕"/>
              </a:rPr>
              <a:t> </a:t>
            </a:r>
            <a:r>
              <a:rPr lang="ko-KR" altLang="en-US" sz="1600">
                <a:latin typeface="맑은 고딕"/>
              </a:rPr>
              <a:t>단일 프레임 기분 추론 방식의 한계 </a:t>
            </a:r>
            <a:endParaRPr lang="ko-KR" altLang="en-US" sz="1600">
              <a:latin typeface="맑은 고딕"/>
            </a:endParaRPr>
          </a:p>
          <a:p>
            <a:pPr marL="914400" lvl="2" indent="0">
              <a:buClr>
                <a:schemeClr val="tx1"/>
              </a:buClr>
              <a:buFont typeface="Arial"/>
              <a:buNone/>
              <a:defRPr/>
            </a:pPr>
            <a:r>
              <a:rPr lang="ko-KR" altLang="en-US" sz="1600">
                <a:latin typeface="맑은 고딕"/>
              </a:rPr>
              <a:t>카운트다운 종료 직전 순간적인 손 모양 변형</a:t>
            </a:r>
            <a:r>
              <a:rPr lang="en-US" altLang="ko-KR" sz="1600">
                <a:latin typeface="맑은 고딕"/>
              </a:rPr>
              <a:t>,</a:t>
            </a:r>
            <a:r>
              <a:rPr lang="ko-KR" altLang="en-US" sz="1600">
                <a:latin typeface="맑은 고딕"/>
              </a:rPr>
              <a:t> 조면 변화 등에 의한 오분류 위험</a:t>
            </a:r>
            <a:endParaRPr lang="ko-KR" altLang="en-US" sz="1600">
              <a:latin typeface="맑은 고딕"/>
            </a:endParaRPr>
          </a:p>
          <a:p>
            <a:pPr marL="914400" lvl="2" indent="0">
              <a:buClr>
                <a:schemeClr val="tx1"/>
              </a:buClr>
              <a:buFont typeface="Arial"/>
              <a:buNone/>
              <a:defRPr/>
            </a:pPr>
            <a:endParaRPr lang="ko-KR" altLang="en-US" sz="1600" b="1">
              <a:latin typeface="맑은 고딕"/>
            </a:endParaRPr>
          </a:p>
          <a:p>
            <a:pPr marL="914400" lvl="2" indent="0">
              <a:buClr>
                <a:schemeClr val="tx1"/>
              </a:buClr>
              <a:buFont typeface="Arial"/>
              <a:buNone/>
              <a:defRPr/>
            </a:pPr>
            <a:endParaRPr lang="ko-KR" altLang="en-US" sz="1600" b="1">
              <a:latin typeface="맑은 고딕"/>
            </a:endParaRPr>
          </a:p>
          <a:p>
            <a:pPr marL="333000" lvl="0" indent="-333000">
              <a:buClr>
                <a:schemeClr val="tx1"/>
              </a:buClr>
              <a:buFont typeface="Arial"/>
              <a:buAutoNum type="arabicPeriod" startAt="3"/>
              <a:defRPr/>
            </a:pPr>
            <a:r>
              <a:rPr lang="ko-KR" altLang="en-US" sz="1600" b="1">
                <a:latin typeface="맑은 고딕"/>
              </a:rPr>
              <a:t>문제 해결 </a:t>
            </a:r>
            <a:r>
              <a:rPr lang="en-US" altLang="ko-KR" sz="1600" b="1">
                <a:latin typeface="맑은 고딕"/>
              </a:rPr>
              <a:t>:</a:t>
            </a:r>
            <a:r>
              <a:rPr lang="ko-KR" altLang="en-US" sz="1600" b="1">
                <a:latin typeface="맑은 고딕"/>
              </a:rPr>
              <a:t> </a:t>
            </a:r>
            <a:r>
              <a:rPr lang="en-US" altLang="ko-KR" sz="1600">
                <a:latin typeface="맑은 고딕"/>
              </a:rPr>
              <a:t>0.5</a:t>
            </a:r>
            <a:r>
              <a:rPr lang="ko-KR" altLang="en-US" sz="1600">
                <a:latin typeface="맑은 고딕"/>
              </a:rPr>
              <a:t>초 최빈값 다수결 판정 알고리즘 도입</a:t>
            </a:r>
            <a:endParaRPr lang="ko-KR" altLang="en-US" sz="1600">
              <a:latin typeface="맑은 고딕"/>
            </a:endParaRPr>
          </a:p>
          <a:p>
            <a:pPr marL="0" lvl="0" indent="0">
              <a:buClr>
                <a:schemeClr val="tx1"/>
              </a:buClr>
              <a:buFont typeface="Arial"/>
              <a:buNone/>
              <a:defRPr/>
            </a:pPr>
            <a:r>
              <a:rPr lang="ko-KR" altLang="en-US" sz="1600"/>
              <a:t>	</a:t>
            </a:r>
            <a:r>
              <a:rPr lang="ko-KR" altLang="en-US" sz="1600">
                <a:latin typeface="맑은 고딕"/>
              </a:rPr>
              <a:t>        카운트다운 종료 전 마지막 </a:t>
            </a:r>
            <a:r>
              <a:rPr lang="en-US" altLang="ko-KR" sz="1600">
                <a:latin typeface="맑은 고딕"/>
              </a:rPr>
              <a:t>0.5</a:t>
            </a:r>
            <a:r>
              <a:rPr lang="ko-KR" altLang="en-US" sz="1600">
                <a:latin typeface="맑은 고딕"/>
              </a:rPr>
              <a:t>초간 수집된 추론 결과의 평균을 결과값으로 출력</a:t>
            </a:r>
            <a:endParaRPr lang="ko-KR" altLang="en-US" sz="1600">
              <a:latin typeface="맑은 고딕"/>
            </a:endParaRPr>
          </a:p>
          <a:p>
            <a:pPr marL="0" lvl="0" indent="0">
              <a:buClr>
                <a:schemeClr val="tx1"/>
              </a:buClr>
              <a:buFont typeface="Arial"/>
              <a:buNone/>
              <a:defRPr/>
            </a:pPr>
            <a:endParaRPr lang="en-US" altLang="ko-KR" sz="1600">
              <a:latin typeface="맑은 고딕"/>
            </a:endParaRPr>
          </a:p>
          <a:p>
            <a:pPr marL="0" lvl="0" indent="0">
              <a:buClr>
                <a:schemeClr val="tx1"/>
              </a:buClr>
              <a:buFont typeface="Arial"/>
              <a:buNone/>
              <a:defRPr/>
            </a:pPr>
            <a:endParaRPr lang="en-US" altLang="ko-KR" sz="1600">
              <a:latin typeface="맑은 고딕"/>
            </a:endParaRPr>
          </a:p>
          <a:p>
            <a:pPr marL="333000" lvl="0" indent="-333000">
              <a:buClr>
                <a:schemeClr val="tx1"/>
              </a:buClr>
              <a:buFont typeface="Arial"/>
              <a:buAutoNum type="arabicPeriod" startAt="4"/>
              <a:defRPr/>
            </a:pPr>
            <a:r>
              <a:rPr lang="ko-KR" altLang="en-US" sz="1600" b="1">
                <a:latin typeface="맑은 고딕"/>
              </a:rPr>
              <a:t>적용 결과 </a:t>
            </a:r>
            <a:r>
              <a:rPr lang="en-US" altLang="ko-KR" sz="1600" b="1">
                <a:latin typeface="맑은 고딕"/>
              </a:rPr>
              <a:t>:</a:t>
            </a:r>
            <a:r>
              <a:rPr lang="ko-KR" altLang="en-US" sz="1600" b="1">
                <a:latin typeface="맑은 고딕"/>
              </a:rPr>
              <a:t> </a:t>
            </a:r>
            <a:r>
              <a:rPr lang="ko-KR" altLang="en-US" sz="1600">
                <a:latin typeface="맑은 고딕"/>
              </a:rPr>
              <a:t>순간적인 노이즈에 영향을 받지 않는 안정적인 승패 판정 로직 구축</a:t>
            </a:r>
            <a:endParaRPr lang="ko-KR" altLang="en-US" sz="1600">
              <a:latin typeface="맑은 고딕"/>
            </a:endParaRPr>
          </a:p>
          <a:p>
            <a:pPr marL="0" lvl="0" indent="0">
              <a:buClr>
                <a:schemeClr val="tx1"/>
              </a:buClr>
              <a:buFont typeface="Arial"/>
              <a:buNone/>
              <a:defRPr/>
            </a:pPr>
            <a:r>
              <a:rPr lang="ko-KR" altLang="en-US" sz="1600"/>
              <a:t>	</a:t>
            </a:r>
            <a:r>
              <a:rPr lang="ko-KR" altLang="en-US" sz="1600">
                <a:latin typeface="맑은 고딕"/>
              </a:rPr>
              <a:t>        </a:t>
            </a:r>
            <a:r>
              <a:rPr lang="en-US" altLang="ko-KR" sz="1600">
                <a:latin typeface="맑은 고딕"/>
              </a:rPr>
              <a:t>1</a:t>
            </a:r>
            <a:r>
              <a:rPr lang="ko-KR" altLang="en-US" sz="1600">
                <a:latin typeface="맑은 고딕"/>
              </a:rPr>
              <a:t>회성 순간 오인식을 상쇄하여 실시간 가위바위보 게임 승패 판정 정확도 향상</a:t>
            </a:r>
            <a:endParaRPr lang="ko-KR" altLang="en-US" sz="160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6928" y="634786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ko-KR" altLang="en-US" sz="2900" b="1">
                <a:solidFill>
                  <a:srgbClr val="102a43"/>
                </a:solidFill>
                <a:latin typeface="맑은 고딕"/>
              </a:rPr>
              <a:t>결과 분석 및 기대효과</a:t>
            </a:r>
            <a:endParaRPr lang="ko-KR" altLang="en-US" sz="2900" b="1">
              <a:solidFill>
                <a:srgbClr val="102a43"/>
              </a:solidFill>
              <a:latin typeface="맑은 고딕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566928" y="1133254"/>
            <a:ext cx="8778082" cy="25034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>
              <a:buNone/>
              <a:defRPr/>
            </a:pPr>
            <a:endParaRPr lang="ko-KR" altLang="en-US" sz="1050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6" name="Text 0"/>
          <p:cNvSpPr/>
          <p:nvPr/>
        </p:nvSpPr>
        <p:spPr>
          <a:xfrm>
            <a:off x="576453" y="350996"/>
            <a:ext cx="411480" cy="868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cs typeface="맑은 고딕"/>
              </a:rPr>
              <a:t>0</a:t>
            </a:r>
            <a:r>
              <a:rPr lang="en-US" altLang="ko-KR" sz="1600" b="1">
                <a:solidFill>
                  <a:srgbClr val="ffffff"/>
                </a:solidFill>
                <a:latin typeface="맑은 고딕"/>
                <a:cs typeface="맑은 고딕"/>
              </a:rPr>
              <a:t>4</a:t>
            </a:r>
            <a:endParaRPr lang="en-US" altLang="ko-KR" sz="1600" b="1">
              <a:solidFill>
                <a:srgbClr val="ffffff"/>
              </a:solidFill>
              <a:latin typeface="맑은 고딕"/>
              <a:cs typeface="맑은 고딕"/>
            </a:endParaRPr>
          </a:p>
        </p:txBody>
      </p:sp>
      <p:sp>
        <p:nvSpPr>
          <p:cNvPr id="150" name="가로 글상자 149"/>
          <p:cNvSpPr txBox="1"/>
          <p:nvPr/>
        </p:nvSpPr>
        <p:spPr>
          <a:xfrm>
            <a:off x="576453" y="2145268"/>
            <a:ext cx="13055406" cy="3110627"/>
          </a:xfrm>
          <a:prstGeom prst="rect">
            <a:avLst/>
          </a:prstGeom>
        </p:spPr>
        <p:txBody>
          <a:bodyPr wrap="square">
            <a:spAutoFit/>
          </a:bodyPr>
          <a:p>
            <a:pPr marL="333000" lvl="0" indent="-333000">
              <a:buClr>
                <a:schemeClr val="tx1"/>
              </a:buClr>
              <a:buFont typeface="Wingdings"/>
              <a:buChar char="§"/>
              <a:defRPr/>
            </a:pPr>
            <a:r>
              <a:rPr lang="ko-KR" altLang="en-US" b="1">
                <a:latin typeface="맑은 고딕"/>
              </a:rPr>
              <a:t>모델 성능 평가 및 결과 분석</a:t>
            </a: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en-US" altLang="ko-KR" b="1">
                <a:latin typeface="맑은 고딕"/>
              </a:rPr>
              <a:t>mAP@0.5 99.5% </a:t>
            </a:r>
            <a:r>
              <a:rPr lang="ko-KR" altLang="en-US" b="1">
                <a:latin typeface="맑은 고딕"/>
              </a:rPr>
              <a:t>달성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ko-KR" altLang="en-US">
                <a:latin typeface="맑은 고딕"/>
              </a:rPr>
              <a:t>전 클래스에서 99.5% 이상의 뛰어난 객체 탐지 성능 기록</a:t>
            </a: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온디바이스 연산 최적화 :</a:t>
            </a:r>
            <a:r>
              <a:rPr lang="ko-KR" altLang="en-US">
                <a:latin typeface="맑은 고딕"/>
              </a:rPr>
              <a:t> Raspberry Pi 5 환경에서 평균 10~15 FPS 이상 유지하며 안정적인 실시간 게임 진행</a:t>
            </a:r>
            <a:endParaRPr lang="ko-KR" altLang="en-US">
              <a:latin typeface="맑은 고딕"/>
            </a:endParaRPr>
          </a:p>
          <a:p>
            <a:pPr marL="0" lvl="0" indent="0">
              <a:buClr>
                <a:schemeClr val="tx1"/>
              </a:buClr>
              <a:buFont typeface="Arial"/>
              <a:buNone/>
              <a:defRPr/>
            </a:pP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Wingdings"/>
              <a:buChar char="§"/>
              <a:defRPr/>
            </a:pPr>
            <a:r>
              <a:rPr lang="ko-KR" altLang="en-US" b="1">
                <a:latin typeface="맑은 고딕"/>
              </a:rPr>
              <a:t>기술적 기대 효과 </a:t>
            </a:r>
            <a:endParaRPr lang="ko-KR" altLang="en-US" b="1">
              <a:latin typeface="맑은 고딕"/>
            </a:endParaRPr>
          </a:p>
          <a:p>
            <a:pPr marL="714240" lvl="1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임베디드 AI 확장성 검증 : </a:t>
            </a:r>
            <a:r>
              <a:rPr lang="ko-KR" altLang="en-US">
                <a:latin typeface="맑은 고딕"/>
              </a:rPr>
              <a:t>저전력·제한적 자원 환경에서 LiteRT 기반의 1-Stage Detector 최적화 가능성 입증</a:t>
            </a:r>
            <a:endParaRPr lang="ko-KR" altLang="en-US">
              <a:latin typeface="맑은 고딕"/>
            </a:endParaRPr>
          </a:p>
          <a:p>
            <a:pPr marL="714240" lvl="1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실시간 프레임 노이즈 상쇄 : </a:t>
            </a:r>
            <a:r>
              <a:rPr lang="ko-KR" altLang="en-US">
                <a:latin typeface="맑은 고딕"/>
              </a:rPr>
              <a:t>0.5초 최빈값 다수결 및 예외 처리 로직 적용을 통한 오탐 방지</a:t>
            </a:r>
            <a:endParaRPr lang="ko-KR" altLang="en-US">
              <a:latin typeface="맑은 고딕"/>
            </a:endParaRPr>
          </a:p>
          <a:p>
            <a:pPr marL="714240" lvl="1" indent="-257040">
              <a:buClr>
                <a:schemeClr val="tx1"/>
              </a:buClr>
              <a:buFont typeface="Arial"/>
              <a:buChar char="•"/>
              <a:defRPr/>
            </a:pP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Wingdings"/>
              <a:buChar char="§"/>
              <a:defRPr/>
            </a:pPr>
            <a:r>
              <a:rPr lang="ko-KR" altLang="en-US" b="1">
                <a:latin typeface="맑은 고딕"/>
              </a:rPr>
              <a:t>활용 및 사업적 기대 효과</a:t>
            </a:r>
            <a:endParaRPr lang="ko-KR" altLang="en-US">
              <a:latin typeface="맑은 고딕"/>
            </a:endParaRPr>
          </a:p>
          <a:p>
            <a:pPr marL="714240" lvl="1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Touchless UI/UX : </a:t>
            </a:r>
            <a:r>
              <a:rPr lang="ko-KR" altLang="en-US">
                <a:latin typeface="맑은 고딕"/>
              </a:rPr>
              <a:t>비접촉 제어가 필요한 키오스크, 의료기기, 스마트홈 등의 제어 인터페이스로 확장 가능</a:t>
            </a:r>
            <a:endParaRPr lang="ko-KR" altLang="en-US">
              <a:latin typeface="맑은 고딕"/>
            </a:endParaRPr>
          </a:p>
          <a:p>
            <a:pPr marL="714240" lvl="1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학습 서비스 응용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사용자 동작 인식 기반의 교육용 게임 및 인터랙티브 전시·체험 콘텐츠에 전면 적용 가능</a:t>
            </a:r>
            <a:endParaRPr lang="ko-KR" altLang="en-US">
              <a:latin typeface="맑은 고딕"/>
            </a:endParaRPr>
          </a:p>
        </p:txBody>
      </p:sp>
      <p:pic>
        <p:nvPicPr>
          <p:cNvPr id="154" name="그림 15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66928" y="5938467"/>
            <a:ext cx="4692760" cy="3127743"/>
          </a:xfrm>
          <a:prstGeom prst="rect">
            <a:avLst/>
          </a:prstGeom>
        </p:spPr>
      </p:pic>
      <p:pic>
        <p:nvPicPr>
          <p:cNvPr id="155" name="그림 15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778082" y="5938467"/>
            <a:ext cx="4170324" cy="3127743"/>
          </a:xfrm>
          <a:prstGeom prst="rect">
            <a:avLst/>
          </a:prstGeom>
        </p:spPr>
      </p:pic>
      <p:sp>
        <p:nvSpPr>
          <p:cNvPr id="156" name="가로 글상자 155"/>
          <p:cNvSpPr txBox="1"/>
          <p:nvPr/>
        </p:nvSpPr>
        <p:spPr>
          <a:xfrm>
            <a:off x="5259687" y="6773438"/>
            <a:ext cx="3518395" cy="1457801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en-US" altLang="ko-KR">
                <a:latin typeface="맑은 고딕"/>
              </a:rPr>
              <a:t>mAP@0.5 99.5%</a:t>
            </a:r>
            <a:r>
              <a:rPr lang="ko-KR" altLang="en-US">
                <a:latin typeface="맑은 고딕"/>
              </a:rPr>
              <a:t>로 출력</a:t>
            </a:r>
            <a:endParaRPr lang="ko-KR" altLang="en-US">
              <a:latin typeface="맑은 고딕"/>
            </a:endParaRPr>
          </a:p>
          <a:p>
            <a:pPr marL="0" lvl="0" indent="0">
              <a:buClr>
                <a:schemeClr val="tx1"/>
              </a:buClr>
              <a:buFont typeface="Arial"/>
              <a:buNone/>
              <a:defRPr/>
            </a:pPr>
            <a:endParaRPr lang="ko-KR" altLang="en-US">
              <a:latin typeface="맑은 고딕"/>
            </a:endParaRPr>
          </a:p>
          <a:p>
            <a:pPr marL="257040" lvl="0" indent="-2570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>
                <a:latin typeface="맑은 고딕"/>
              </a:rPr>
              <a:t>단순한 모델 구조로 인해 그래프 선이 사각형에 가까운 이상적인 형태로 출력</a:t>
            </a:r>
            <a:endParaRPr lang="ko-KR" altLang="en-US">
              <a:latin typeface="맑은 고딕"/>
            </a:endParaRPr>
          </a:p>
        </p:txBody>
      </p:sp>
      <p:sp>
        <p:nvSpPr>
          <p:cNvPr id="157" name="가로 글상자 156"/>
          <p:cNvSpPr txBox="1"/>
          <p:nvPr/>
        </p:nvSpPr>
        <p:spPr>
          <a:xfrm>
            <a:off x="12948406" y="6913323"/>
            <a:ext cx="4216894" cy="1181022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 algn="l">
              <a:buClr>
                <a:schemeClr val="tx1"/>
              </a:buClr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테스트 이미지 모두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100%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Calibri"/>
              </a:rPr>
              <a:t> 인식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cs typeface="Calibri"/>
            </a:endParaRPr>
          </a:p>
          <a:p>
            <a:pPr marL="257040" lvl="0" indent="-257040" algn="l">
              <a:buClr>
                <a:schemeClr val="tx1"/>
              </a:buClr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cs typeface="Calibri"/>
            </a:endParaRPr>
          </a:p>
          <a:p>
            <a:pPr marL="257040" lvl="0" indent="-257040" algn="l">
              <a:buClr>
                <a:schemeClr val="tx1"/>
              </a:buClr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배경을 바위로 오탐한 횟수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회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45720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ㄴ 안정화 처리를 통해 오탐 완화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6928" y="634786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ko-KR" altLang="en-US" sz="2900" b="1">
                <a:solidFill>
                  <a:srgbClr val="102a43"/>
                </a:solidFill>
                <a:latin typeface="맑은 고딕"/>
              </a:rPr>
              <a:t>향후 연구 과제</a:t>
            </a:r>
            <a:endParaRPr lang="ko-KR" altLang="en-US" sz="2900" b="1">
              <a:solidFill>
                <a:srgbClr val="102a43"/>
              </a:solidFill>
              <a:latin typeface="맑은 고딕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566928" y="1133254"/>
            <a:ext cx="8778082" cy="25034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>
              <a:buNone/>
              <a:defRPr/>
            </a:pPr>
            <a:endParaRPr lang="ko-KR" altLang="en-US" sz="1050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6" name="Text 0"/>
          <p:cNvSpPr/>
          <p:nvPr/>
        </p:nvSpPr>
        <p:spPr>
          <a:xfrm>
            <a:off x="576453" y="350996"/>
            <a:ext cx="411480" cy="868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cs typeface="맑은 고딕"/>
              </a:rPr>
              <a:t>0</a:t>
            </a:r>
            <a:r>
              <a:rPr lang="en-US" altLang="ko-KR" sz="1600" b="1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endParaRPr lang="en-US" altLang="ko-KR" sz="1600" b="1">
              <a:solidFill>
                <a:srgbClr val="ffffff"/>
              </a:solidFill>
              <a:latin typeface="맑은 고딕"/>
              <a:cs typeface="맑은 고딕"/>
            </a:endParaRPr>
          </a:p>
        </p:txBody>
      </p:sp>
      <p:sp>
        <p:nvSpPr>
          <p:cNvPr id="150" name="가로 글상자 149"/>
          <p:cNvSpPr txBox="1"/>
          <p:nvPr/>
        </p:nvSpPr>
        <p:spPr>
          <a:xfrm>
            <a:off x="576453" y="2883018"/>
            <a:ext cx="9292433" cy="2277627"/>
          </a:xfrm>
          <a:prstGeom prst="rect">
            <a:avLst/>
          </a:prstGeom>
        </p:spPr>
        <p:txBody>
          <a:bodyPr wrap="square">
            <a:spAutoFit/>
          </a:bodyPr>
          <a:p>
            <a:pPr marL="333000" lvl="0" indent="-333000">
              <a:buClr>
                <a:schemeClr val="tx1"/>
              </a:buClr>
              <a:buFont typeface="Wingdings"/>
              <a:buChar char="§"/>
              <a:defRPr/>
            </a:pPr>
            <a:r>
              <a:rPr lang="ko-KR" altLang="en-US" b="1">
                <a:latin typeface="맑은 고딕"/>
              </a:rPr>
              <a:t>추후 개선 사항</a:t>
            </a: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배경 오탐 강건성 확보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ko-KR" altLang="en-US">
                <a:latin typeface="맑은 고딕"/>
              </a:rPr>
              <a:t>다양한 배경 데이터셋 추가 구축 및 추가적인 튜닝 진행</a:t>
            </a: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다양한 환경 변수 대응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조명 변화</a:t>
            </a:r>
            <a:r>
              <a:rPr lang="en-US" altLang="ko-KR">
                <a:latin typeface="맑은 고딕"/>
              </a:rPr>
              <a:t>,</a:t>
            </a:r>
            <a:r>
              <a:rPr lang="ko-KR" altLang="en-US">
                <a:latin typeface="맑은 고딕"/>
              </a:rPr>
              <a:t> 극심한 역광</a:t>
            </a:r>
            <a:r>
              <a:rPr lang="en-US" altLang="ko-KR">
                <a:latin typeface="맑은 고딕"/>
              </a:rPr>
              <a:t>,</a:t>
            </a:r>
            <a:r>
              <a:rPr lang="ko-KR" altLang="en-US">
                <a:latin typeface="맑은 고딕"/>
              </a:rPr>
              <a:t> 손 기울어짐 등의 현상에 강건하도록 데이터셋 추가</a:t>
            </a:r>
            <a:endParaRPr lang="ko-KR" altLang="en-US">
              <a:latin typeface="맑은 고딕"/>
            </a:endParaRPr>
          </a:p>
          <a:p>
            <a:pPr marL="457200" lvl="1" indent="0">
              <a:buClr>
                <a:schemeClr val="tx1"/>
              </a:buClr>
              <a:buFont typeface="Arial"/>
              <a:buNone/>
              <a:defRPr/>
            </a:pP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모델 경량화 및 </a:t>
            </a:r>
            <a:r>
              <a:rPr lang="en-US" altLang="ko-KR" b="1">
                <a:latin typeface="맑은 고딕"/>
              </a:rPr>
              <a:t>FPS</a:t>
            </a:r>
            <a:r>
              <a:rPr lang="ko-KR" altLang="en-US" b="1">
                <a:latin typeface="맑은 고딕"/>
              </a:rPr>
              <a:t> 향상 </a:t>
            </a: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endParaRPr lang="ko-KR" altLang="en-US">
              <a:latin typeface="맑은 고딕"/>
            </a:endParaRPr>
          </a:p>
        </p:txBody>
      </p:sp>
      <p:pic>
        <p:nvPicPr>
          <p:cNvPr id="158" name="그림 15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522799" y="3026081"/>
            <a:ext cx="4314493" cy="4265079"/>
          </a:xfrm>
          <a:prstGeom prst="rect">
            <a:avLst/>
          </a:prstGeom>
        </p:spPr>
      </p:pic>
      <p:sp>
        <p:nvSpPr>
          <p:cNvPr id="159" name="가로 글상자 158"/>
          <p:cNvSpPr txBox="1"/>
          <p:nvPr/>
        </p:nvSpPr>
        <p:spPr>
          <a:xfrm>
            <a:off x="576453" y="5158621"/>
            <a:ext cx="9292432" cy="2278499"/>
          </a:xfrm>
          <a:prstGeom prst="rect">
            <a:avLst/>
          </a:prstGeom>
        </p:spPr>
        <p:txBody>
          <a:bodyPr wrap="square">
            <a:spAutoFit/>
          </a:bodyPr>
          <a:p>
            <a:pPr marL="333000" lvl="0" indent="-333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/>
              <a:buChar char="§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후속 개발 주제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90200" lvl="1" indent="-333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연속 동작 인식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단일 컷을 넘어서 연속적인 손동작을 추적하여 계산하는 추적 기술을 개방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-&gt; MediaPipe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와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YOLO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연동 등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90200" lvl="1" indent="-333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90200" lvl="1" indent="-333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GPIO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기반 제어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라즈베리 파이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GPIO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핀을 연동하여 승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패 결과에 따른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LED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점등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부저 출력 등 직관적인 알림 기능 추가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90200" lvl="1" indent="-333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90200" lvl="1" indent="-333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UI/UX 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발전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게임 화면 내 승패 이력 그래프 및 애니메이션 효과 추가 가능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60" name="그림 15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868886" y="3026081"/>
            <a:ext cx="2171885" cy="4265079"/>
          </a:xfrm>
          <a:prstGeom prst="rect">
            <a:avLst/>
          </a:prstGeom>
        </p:spPr>
      </p:pic>
      <p:sp>
        <p:nvSpPr>
          <p:cNvPr id="162" name="직사각형 161"/>
          <p:cNvSpPr/>
          <p:nvPr/>
        </p:nvSpPr>
        <p:spPr>
          <a:xfrm>
            <a:off x="9874721" y="7324069"/>
            <a:ext cx="2166050" cy="2178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900" b="0" i="0" strike="noStrike" mc:Ignorable="hp" hp:hslEmbossed="0">
                <a:solidFill>
                  <a:srgbClr val="bfbfbf"/>
                </a:solidFill>
                <a:latin typeface="맑은 고딕"/>
                <a:ea typeface="맑은 고딕"/>
              </a:rPr>
              <a:t>출처: chuoling.github.io/mediapipe</a:t>
            </a:r>
            <a:endParaRPr xmlns:mc="http://schemas.openxmlformats.org/markup-compatibility/2006" xmlns:hp="http://schemas.haansoft.com/office/presentation/8.0" sz="900" b="0" i="0" strike="noStrike" mc:Ignorable="hp" hp:hslEmbossed="0">
              <a:solidFill>
                <a:srgbClr val="bfbfbf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66928" y="634786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ko-KR" altLang="en-US" sz="2900" b="1">
                <a:solidFill>
                  <a:srgbClr val="102a43"/>
                </a:solidFill>
                <a:latin typeface="맑은 고딕"/>
                <a:ea typeface="맑은 고딕"/>
                <a:cs typeface="맑은 고딕"/>
              </a:rPr>
              <a:t>프로젝트 수행 후기</a:t>
            </a:r>
            <a:endParaRPr lang="ko-KR" altLang="en-US" sz="2900" b="1">
              <a:solidFill>
                <a:srgbClr val="102a4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566928" y="1133254"/>
            <a:ext cx="8778082" cy="25034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>
              <a:buNone/>
              <a:defRPr/>
            </a:pPr>
            <a:endParaRPr lang="ko-KR" altLang="en-US" sz="1050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0"/>
          <p:cNvSpPr/>
          <p:nvPr/>
        </p:nvSpPr>
        <p:spPr>
          <a:xfrm>
            <a:off x="576453" y="350996"/>
            <a:ext cx="411480" cy="868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lv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altLang="ko-KR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lang="en-US" altLang="ko-KR" sz="16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0" name="가로 글상자 149"/>
          <p:cNvSpPr txBox="1"/>
          <p:nvPr/>
        </p:nvSpPr>
        <p:spPr>
          <a:xfrm>
            <a:off x="576453" y="2565517"/>
            <a:ext cx="12959560" cy="5852678"/>
          </a:xfrm>
          <a:prstGeom prst="rect">
            <a:avLst/>
          </a:prstGeom>
        </p:spPr>
        <p:txBody>
          <a:bodyPr wrap="square">
            <a:spAutoFit/>
          </a:bodyPr>
          <a:p>
            <a:pPr marL="333000" lvl="0" indent="-333000">
              <a:buClr>
                <a:schemeClr val="tx1"/>
              </a:buClr>
              <a:buSzPct val="120000"/>
              <a:buFont typeface="Wingdings"/>
              <a:buChar char="§"/>
              <a:defRPr/>
            </a:pPr>
            <a:r>
              <a:rPr lang="ko-KR" altLang="en-US" b="1">
                <a:latin typeface="맑은 고딕"/>
              </a:rPr>
              <a:t>문제 해결 및 극복 사연</a:t>
            </a:r>
            <a:endParaRPr lang="ko-KR" altLang="en-US" b="1">
              <a:latin typeface="맑은 고딕"/>
            </a:endParaRPr>
          </a:p>
          <a:p>
            <a:pPr marL="333000" lvl="0" indent="-333000">
              <a:buClr>
                <a:schemeClr val="tx1"/>
              </a:buClr>
              <a:buFont typeface="Wingdings"/>
              <a:buChar char="l"/>
              <a:defRPr/>
            </a:pPr>
            <a:r>
              <a:rPr lang="ko-KR" altLang="en-US" b="1">
                <a:latin typeface="맑은 고딕"/>
              </a:rPr>
              <a:t>단일 프레임 판정의 한계 극복</a:t>
            </a:r>
            <a:endParaRPr lang="ko-KR" altLang="en-US" b="1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문제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ko-KR" altLang="en-US">
                <a:latin typeface="맑은 고딕"/>
              </a:rPr>
              <a:t>카운트다운 순간 노이즈로 인해 승패가 잘못 판정되는 현상이 발생</a:t>
            </a: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해결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ko-KR" altLang="en-US">
                <a:latin typeface="맑은 고딕"/>
              </a:rPr>
              <a:t>카운트다운 종료 전 </a:t>
            </a:r>
            <a:r>
              <a:rPr lang="en-US" altLang="ko-KR">
                <a:latin typeface="맑은 고딕"/>
              </a:rPr>
              <a:t>0.5</a:t>
            </a:r>
            <a:r>
              <a:rPr lang="ko-KR" altLang="en-US">
                <a:latin typeface="맑은 고딕"/>
              </a:rPr>
              <a:t>초의 프레임을 수집하고 다수결 알고리즘을 적용하여 오판정률을 낮추었음</a:t>
            </a:r>
            <a:endParaRPr lang="ko-KR" altLang="en-US">
              <a:latin typeface="맑은 고딕"/>
            </a:endParaRPr>
          </a:p>
          <a:p>
            <a:pPr marL="457200" lvl="1" indent="0">
              <a:buClr>
                <a:schemeClr val="tx1"/>
              </a:buClr>
              <a:buFont typeface="Arial"/>
              <a:buNone/>
              <a:defRPr/>
            </a:pPr>
            <a:endParaRPr lang="ko-KR" altLang="en-US">
              <a:latin typeface="맑은 고딕"/>
            </a:endParaRPr>
          </a:p>
          <a:p>
            <a:pPr marL="333000" lvl="0" indent="-333000">
              <a:buClr>
                <a:schemeClr val="tx1"/>
              </a:buClr>
              <a:buFont typeface="Wingdings"/>
              <a:buChar char="l"/>
              <a:defRPr/>
            </a:pPr>
            <a:r>
              <a:rPr lang="ko-KR" altLang="en-US" b="1">
                <a:latin typeface="맑은 고딕"/>
              </a:rPr>
              <a:t>손 기울어짐 및 가림 현상으로 인한 오인식 대응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</a:t>
            </a: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문제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ko-KR" altLang="en-US">
                <a:latin typeface="맑은 고딕"/>
              </a:rPr>
              <a:t>카메라 각도나 손의 기울어짐 등에 의해 인식률이 떨어지는 현상 발생</a:t>
            </a: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임시 해결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ko-KR" altLang="en-US" b="0">
                <a:latin typeface="맑은 고딕"/>
              </a:rPr>
              <a:t>두 손이 모두 정상 감지 되었을 때만 카운트 다운이 진행되도록 예외처리 로직 추가</a:t>
            </a:r>
            <a:endParaRPr lang="ko-KR" altLang="en-US" b="0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추후 해결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ko-KR" altLang="en-US">
                <a:latin typeface="맑은 고딕"/>
              </a:rPr>
              <a:t>데이터셋 보충을 통한 강건함 확보</a:t>
            </a:r>
            <a:endParaRPr lang="ko-KR" altLang="en-US">
              <a:latin typeface="맑은 고딕"/>
            </a:endParaRPr>
          </a:p>
          <a:p>
            <a:pPr marL="457200" lvl="1" indent="0">
              <a:buClr>
                <a:schemeClr val="tx1"/>
              </a:buClr>
              <a:buFont typeface="Arial"/>
              <a:buNone/>
              <a:defRPr/>
            </a:pPr>
            <a:endParaRPr lang="ko-KR" altLang="en-US">
              <a:latin typeface="맑은 고딕"/>
            </a:endParaRPr>
          </a:p>
          <a:p>
            <a:pPr marL="333000" lvl="0" indent="-333000">
              <a:buClr>
                <a:schemeClr val="tx1"/>
              </a:buClr>
              <a:buSzPct val="120000"/>
              <a:buFont typeface="Wingdings"/>
              <a:buChar char="§"/>
              <a:defRPr/>
            </a:pPr>
            <a:r>
              <a:rPr lang="ko-KR" altLang="en-US" b="1">
                <a:latin typeface="맑은 고딕"/>
              </a:rPr>
              <a:t>배운점 </a:t>
            </a:r>
            <a:r>
              <a:rPr lang="en-US" altLang="ko-KR" b="1">
                <a:latin typeface="맑은 고딕"/>
              </a:rPr>
              <a:t>&amp;</a:t>
            </a:r>
            <a:r>
              <a:rPr lang="ko-KR" altLang="en-US" b="1">
                <a:latin typeface="맑은 고딕"/>
              </a:rPr>
              <a:t> 느낀점</a:t>
            </a:r>
            <a:endParaRPr lang="ko-KR" altLang="en-US" b="1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SzPct val="120000"/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알고리즘 적 후처리의 중요성 체감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 b="1">
                <a:latin typeface="맑은 고딕"/>
              </a:rPr>
              <a:t> </a:t>
            </a:r>
            <a:r>
              <a:rPr lang="en-US" altLang="ko-KR">
                <a:latin typeface="맑은 고딕"/>
              </a:rPr>
              <a:t>AI </a:t>
            </a:r>
            <a:r>
              <a:rPr lang="ko-KR" altLang="en-US">
                <a:latin typeface="맑은 고딕"/>
              </a:rPr>
              <a:t>모델의 정확도도 중요하지만 카메라 입력의 흔들림이나 노이즈를 제어해주는 소프트웨어적 후처리도 신경써야 함을 배웠음</a:t>
            </a:r>
            <a:r>
              <a:rPr lang="en-US" altLang="ko-KR">
                <a:latin typeface="맑은 고딕"/>
              </a:rPr>
              <a:t>.</a:t>
            </a:r>
            <a:endParaRPr lang="en-US" altLang="ko-KR">
              <a:latin typeface="맑은 고딕"/>
            </a:endParaRPr>
          </a:p>
          <a:p>
            <a:pPr marL="457200" lvl="1" indent="0">
              <a:buClr>
                <a:schemeClr val="tx1"/>
              </a:buClr>
              <a:buSzPct val="120000"/>
              <a:buFont typeface="Arial"/>
              <a:buNone/>
              <a:defRPr/>
            </a:pPr>
            <a:endParaRPr lang="en-US" altLang="ko-KR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SzPct val="120000"/>
              <a:buFont typeface="Arial"/>
              <a:buChar char="•"/>
              <a:defRPr/>
            </a:pPr>
            <a:r>
              <a:rPr lang="en-US" altLang="ko-KR" b="1">
                <a:latin typeface="맑은 고딕"/>
              </a:rPr>
              <a:t>On-Device AI</a:t>
            </a:r>
            <a:r>
              <a:rPr lang="ko-KR" altLang="en-US" b="1">
                <a:latin typeface="맑은 고딕"/>
              </a:rPr>
              <a:t>의 흐름 이해 </a:t>
            </a:r>
            <a:r>
              <a:rPr lang="en-US" altLang="ko-KR" b="1">
                <a:latin typeface="맑은 고딕"/>
              </a:rPr>
              <a:t>:</a:t>
            </a:r>
            <a:r>
              <a:rPr lang="ko-KR" altLang="en-US">
                <a:latin typeface="맑은 고딕"/>
              </a:rPr>
              <a:t> 라즈베리 파이 환경에서 카메라 영상을 실시간으로 처리하고 </a:t>
            </a:r>
            <a:r>
              <a:rPr lang="en-US" altLang="ko-KR">
                <a:latin typeface="맑은 고딕"/>
              </a:rPr>
              <a:t>UI</a:t>
            </a:r>
            <a:r>
              <a:rPr lang="ko-KR" altLang="en-US">
                <a:latin typeface="맑은 고딕"/>
              </a:rPr>
              <a:t> 및 스코어 보드와 연동하는 과정을 진행하며 전체적인 흐름을 이해할 수 있었음</a:t>
            </a:r>
            <a:endParaRPr lang="ko-KR" altLang="en-US">
              <a:latin typeface="맑은 고딕"/>
            </a:endParaRPr>
          </a:p>
          <a:p>
            <a:pPr marL="333000" lvl="0" indent="-333000">
              <a:buClr>
                <a:schemeClr val="tx1"/>
              </a:buClr>
              <a:buSzPct val="120000"/>
              <a:buFont typeface="Arial"/>
              <a:buChar char="•"/>
              <a:defRPr/>
            </a:pPr>
            <a:endParaRPr lang="en-US" altLang="ko-KR">
              <a:latin typeface="맑은 고딕"/>
            </a:endParaRPr>
          </a:p>
          <a:p>
            <a:pPr marL="333000" lvl="0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b="1">
                <a:latin typeface="맑은 고딕"/>
              </a:rPr>
              <a:t>마무리 소회</a:t>
            </a:r>
            <a:endParaRPr lang="ko-KR" altLang="en-US" b="1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>
                <a:latin typeface="맑은 고딕"/>
              </a:rPr>
              <a:t>수업 시간에 배운 </a:t>
            </a:r>
            <a:r>
              <a:rPr lang="en-US" altLang="ko-KR">
                <a:latin typeface="맑은 고딕"/>
              </a:rPr>
              <a:t>AI</a:t>
            </a:r>
            <a:r>
              <a:rPr lang="ko-KR" altLang="en-US">
                <a:latin typeface="맑은 고딕"/>
              </a:rPr>
              <a:t> 모델 및 파이썬 로직을 바탕으로 발생한 문제를 직접 보정해 보며 수업 내용에 대한 이해와 성취감을 얻을 수 있었음</a:t>
            </a:r>
            <a:endParaRPr lang="ko-KR" altLang="en-US">
              <a:latin typeface="맑은 고딕"/>
            </a:endParaRPr>
          </a:p>
          <a:p>
            <a:pPr marL="790200" lvl="1" indent="-333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>
                <a:latin typeface="맑은 고딕"/>
              </a:rPr>
              <a:t>향후 </a:t>
            </a:r>
            <a:r>
              <a:rPr lang="en-US" altLang="ko-KR">
                <a:latin typeface="맑은 고딕"/>
              </a:rPr>
              <a:t>MediaPipe</a:t>
            </a:r>
            <a:r>
              <a:rPr lang="ko-KR" altLang="en-US">
                <a:latin typeface="맑은 고딕"/>
              </a:rPr>
              <a:t> 손 관절 추적 기능과 </a:t>
            </a:r>
            <a:r>
              <a:rPr lang="en-US" altLang="ko-KR">
                <a:latin typeface="맑은 고딕"/>
              </a:rPr>
              <a:t>GPIO</a:t>
            </a:r>
            <a:r>
              <a:rPr lang="ko-KR" altLang="en-US">
                <a:latin typeface="맑은 고딕"/>
              </a:rPr>
              <a:t> 하드웨어 제어 등 더 발전된 과정을 경험하며 확장해나가고 싶다고 느낌</a:t>
            </a:r>
            <a:endParaRPr lang="ko-KR" altLang="en-US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890</ep:Words>
  <ep:PresentationFormat>사용자 지정</ep:PresentationFormat>
  <ep:Paragraphs>135</ep:Paragraphs>
  <ep:Slides>10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2022-12-09T16:47:26.000</dcterms:created>
  <dc:creator>mangoboard.net_22081255</dc:creator>
  <cp:lastModifiedBy>kccistc</cp:lastModifiedBy>
  <dcterms:modified xsi:type="dcterms:W3CDTF">2026-09-18T06:34:28.573</dcterms:modified>
  <cp:revision>98</cp:revision>
  <dc:subject>Presentation</dc:subject>
  <dc:title>SW Reskilling 오리엔테이션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